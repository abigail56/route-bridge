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Public Sans" pitchFamily="34" charset="0"/>
      <p:regular r:id="rId21"/>
      <p:bold r:id="rId22"/>
      <p:italic r:id="rId23"/>
      <p:boldItalic r:id="rId24"/>
    </p:embeddedFont>
    <p:embeddedFont>
      <p:font typeface="Rubik"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[name], and today I’m presenting RouteBridge. RouteBridge is a last-mile delivery operating system built for Nigeria. In one sentence: it’s the software a delivery company uses to take orders from the shops it serves, send them to its riders, track every parcel live, prove that each delivery really happened, and settle the cash collected on delivery. Over the next few minutes I’ll cover four things: the problem we’re solving, what RouteBridge is and how an order moves through it, how it’s built and why we made those choices, and finally where the project stands today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In Nigeria, shops, pharmacies, restaurants and courier companies lose money on same-city delivery, and it’s rarely one big failure. It’s six small ones that add up. First, orders arrive everywhere: WhatsApp, Instagram DMs, phone calls, spreadsheets. There’s no single record of what needs to go out. Second, addresses are landmark-based. “Opposite the blue church, after the second junction” is a normal address here, and riders waste time looking. Third, dispatch is done by phone and chat, so nobody really knows which rider has which parcel, or where they are right now. Fourth, proof is weak. A rider can mark something delivered when it wasn’t, and the shop ends up arguing with the customer. Fifth, cash on delivery leaks. Riders collect cash, and reconciling it for each shop is manual and error-prone. And sixth, mobile data is unreliable. Riders lose signal mid-route, so any app that needs constant internet breaks exactly when it’s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RouteBridge? It’s important to say what it is not. It’s not another consumer delivery app like Glovo or Chowdeck, where you order food on your phone. It’s the back office for a delivery business. A delivery company signs up and gets its own workspace. In that workspace it runs its shops, its riders, its dispatch, its proof of delivery and its cash settlement, all in one place. Many delivery companies can use the platform at the same time, and none of them can see each other’s data. We also made two deliberate business choices: RouteBridge doesn’t own vehicles, and it never holds customer money. It’s software that makes an existing delivery business run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kinds of people using RouteBridge, and each one gets a screen built for them. The Admin is the owner of the delivery company. They use the web console to add shops and drivers, watch the Dispatch board, assign orders, deal with problems, reconcile cash and read reports. We deliberately kept this to one Admin per company, because our first customers are small companies, and fewer roles means fewer access mistakes. The Shop has its own portal. It registers itself with its phone, address, bank account and zone, then places delivery orders, follows them live, sees its statements, raises claims when something goes wrong, and pays for its own subscription. The Driver uses a phone app that keeps working with no signal. They move each job through its steps, take a photo, type in the customer’s code and record the cash. And the Customer doesn’t sign in at all. They get a tracking link that shows the rider on a map and their delivery code. Behind all of this there’s also a Platform console for RouteBridge’s own staff, who manage the companies but never see a company’s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an order moves through the system. It starts when the shop places an order in its portal. That order is pending. Note that only shops create orders, not the delivery company’s staff. That keeps every order owned by the shop, which makes statements and claims clean later. The shop also has to pick the customer’s zone, because the zone decides which riders can take the order and how much it costs. Next, the Admin assigns a rider on the Dispatch board, or the company can switch on automatic assignment, which only picks a free, online rider who works in that zone. The rider accepts the job and sets off. While they’re en route, the app sends their position, and the customer can watch them on a map. When the rider arrives, the system issues a delivery code. And the job can only become delivered once that code is verified. I’ll explain why on the next slide. If the customer isn’t there, the rider records a failed attempt with a reason. The order can then be rescheduled or returned to the shop. The important point is that this is a strict path. The server refuses any step that isn’t allowed, like jumping from pending straight to delivered. That stops bad or faked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I’m most proud of, because it attacks the “delivered but not really” problem directly. In most delivery systems, a rider taps “delivered” and maybe takes a photo. A photo of a gate doesn’t prove the customer got anything. In RouteBridge, when the rider arrives, the system creates a one-time code and sends it to the customer: it appears on their tracking page and is sent by text. The rider never sees that code. The customer reads it out, the rider types it into the app, and the server checks it. Only then does the job become delivered. A photo or signature without the code is refused. The code is stored hashed, so even someone reading the database can’t see it. It expires, and it allows only a limited number of tries. Every wrong guess is logged, without recording the guess itself, so the company can spot a rider who keeps guessing. The result: if an order says delivered, the customer really was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driver app, which had to solve the connectivity problem. The original plan was a native Android app. We built a Progressive Web App instead: a web app that installs from a link onto the home screen. Riders don’t need the Play Store, there are no updates to chase, and it runs on cheap Android phones. The key requirement is that it works offline. Every action the rider takes, whether that’s a status change, a photo, a cash amount or their GPS position, is saved on the phone first, in a local queue. When signal comes back, the queue is sent to the server. And it’s sent in the exact order things happened. That matters, because the server enforces the strict order path we just saw. If “arrived” reached the server before “en route”, it would be refused. Finally, everything stored on the phone is encrypted, using AES-GCM with a key that’s generated on the device and can’t be copied off it. If a rider loses their phone, customers’ details and photos on it stay 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part of the delivery story is money, which is where the old way leaks the most. When a customer pays cash on delivery, the rider records the amount in the app at the door. Delivery fees come from a rate card set per zone, including a cash-handling fee. At the end of a period, the Admin can import the bank statement, and the system matches it against what riders said they collected. Any gap is flagged as an exception, so nobody has to hunt through spreadsheets. When something goes wrong, like a damaged or lost parcel, the shop raises a claim. A claim moves from open, to investigating, to approved or rejected, and approved claims are then paid. If a claim is rejected, the shop always sees the reason. Staff can also keep private notes the shop doesn’t see. All of this rolls up into one simple statement per shop: cash collected, minus delivery fees, plus approved claims. That’s what the company owes the shop. One thing to be clear on: RouteBridge records what’s owed. It doesn’t move the money itself, which keeps us out of regulated payment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RouteBridge make money? The original idea was that the delivery company pays per plan. We changed that: each shop pays for its own subscription, because the shop is the one getting the value of a reliable delivery service. Every shop starts with a 14-day free trial, which begins the first time it places an order or opens its billing page. After that it chooses Basic, Standard or Pro. The prices in the system are still placeholders. [If you have final prices, say them here.] Shops pay online through Paystack, Nigeria’s main card and bank transfer gateway, straight from their portal. If a shop’s plan ends, or it uses up its monthly orders, it can’t place new orders until it pays. But, and this is important for trust, any delivery already on the road is never stopped. A customer’s parcel never gets stuck because of a billing problem. Separately, the delivery company itself has a plan with RouteBridge, which our platform staff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it’s built, and why each piece was chosen. The server is written in Python with FastAPI. It’s quick to build with, it checks every input automatically, and it generates its own interactive API documentation. Data lives in PostgreSQL, which gives us reliable transactions, with PostGIS added for map and distance queries, like finding the nearest rider. Redis is a very fast in-memory store. We use it for short-lived locks, rate limits and the live status stream that updates the console instantly. Delivery photos and signatures go into MinIO, which speaks the same language as Amazon S3. Files stay out of the database, and we can move to any cloud without changing code. Sign-in is handled by Clerk, so we never store passwords ourselves. The website is one Next.js app in TypeScript. That single app serves the Admin console, the shop portal, the customer tracking page and the driver app. Maps use Leaflet with OpenStreetMap, which is free, and we can switch to MapTiler or Mapbox with one setting. Payments go through Paystack, and texts through a pluggable SMS gateway. And the whole system runs with Docker Compose, one command to start everything, with Caddy in front providing automatic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pieces fit together. On the left are the four screens: the Admin console, the shop portal, the driver app and the customer tracking page. They’re all served by the same website, and they all talk to one server: the API. The API does three things on every request. It checks who you are and what role you have. It applies the business rules, like the order path and the delivery code. And it saves the change. Here’s the clever part, called the transactional outbox. When something important happens, say an order is assigned, the API saves the change and a record of the event in the same database transaction. Separate background workers then pick up those events and send them out: live updates to the console, a push alert to the rider’s phone, a text to the customer. If sending fails, they retry. This means an event is never lost, and we never send a message about a change that didn’t actually save. On the right are the storage and outside services: PostgreSQL for data, Redis, MinIO for photos, Clerk for sign-in, Paystack for payments, plus SMS and web push. Every company’s data is separated, and a shop can only ever see its own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project changes its plan when it learns something, so here’s what we changed from the original specification and why. The first plan called for a TypeScript or Go server. We used Python with FastAPI, because it let a small team build faster. The first plan called for a native Android app. We built an offline web app, for the reasons on the driver slide: install by link, no app store, runs on cheap phones, with the same offline guarantees. The first plan had many staff roles: dispatchers, finance, operations managers. We simplified to one Admin plus Drivers, because our first customers are small companies and fewer roles means fewer access mistakes. The old roles still work for existing logins. The first plan let both staff and shops create orders. Now only shops create orders, so every order clearly belongs to a shop. The first plan had the delivery company paying. Now each shop pays for its own plan, because revenue should follow whoever gets the value. And the first plan used Kubernetes in the cloud. We removed it and use Docker Compose, because we don’t have a server yet, and Compose is all a pilot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the project stand today? Everything I’ve shown you is built: orders, dispatch, the offline driver app, the delivery code check, cash collection, statements, claims and shop subscriptions. The backend has 143 automated tests passing. We’ve proven that backups work by actually restoring one and comparing every table. HTTPS and monitoring are set up, and there’s a live demo online right now. [Optional: show the demo here.] What’s left is moving from a working system to a live business, in this order. First, some security housekeeping: rotate the keys that were exposed during development, then move from this PC to a real server with a domain. Second, register an SMS sender ID. Right now texts are only logged, not sent, so customers only see their code on the tracking page. Third, a two-week field pilot in one Lagos zone, with two or three shops and three to five drivers, to test it with real riders, real phones and real customers. And fourth, switch on real Paystack payments, then complete the compliance work: registration with the Nigeria Data Protection Commission, a legal review of our privacy documents, and an independent security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Nigerian deliveries lose money through scattered orders, vague addresses, blind dispatch, weak proof, leaking cash and patchy data. RouteBridge answers each of those: every order in one place, riders dispatched by zone, an app that works without signal, a delivery code that proves the customer was really there, and a clear statement for every shop, so every naira is accounted for. It’s built, it’s tested, and the next step is a real pilot in Lagos. Thank you for listening.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72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72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746D1"/>
          </a:solidFill>
          <a:ln/>
        </p:spPr>
      </p:sp>
      <p:sp>
        <p:nvSpPr>
          <p:cNvPr id="3" name="Text 1"/>
          <p:cNvSpPr/>
          <p:nvPr/>
        </p:nvSpPr>
        <p:spPr>
          <a:xfrm>
            <a:off x="812800" y="20345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8FA8F0"/>
                </a:solidFill>
                <a:latin typeface="Public Sans" pitchFamily="34" charset="0"/>
                <a:ea typeface="Public Sans" pitchFamily="34" charset="-122"/>
                <a:cs typeface="Public Sans" pitchFamily="34" charset="-120"/>
              </a:rPr>
              <a:t>LAST-MILE DELIVERY FOR NIGERIA</a:t>
            </a:r>
            <a:endParaRPr lang="en-US" sz="1600" dirty="0"/>
          </a:p>
        </p:txBody>
      </p:sp>
      <p:sp>
        <p:nvSpPr>
          <p:cNvPr id="4" name="Text 2"/>
          <p:cNvSpPr/>
          <p:nvPr>
            <p:ph type="title"/>
          </p:nvPr>
        </p:nvSpPr>
        <p:spPr>
          <a:xfrm>
            <a:off x="812800" y="257304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8FAFC"/>
                </a:solidFill>
                <a:latin typeface="Rubik" pitchFamily="34" charset="0"/>
                <a:ea typeface="Rubik" pitchFamily="34" charset="-122"/>
                <a:cs typeface="Rubik" pitchFamily="34" charset="-120"/>
              </a:rPr>
              <a:t>RouteBridge</a:t>
            </a:r>
            <a:endParaRPr lang="en-US" sz="8000" dirty="0"/>
          </a:p>
        </p:txBody>
      </p:sp>
      <p:sp>
        <p:nvSpPr>
          <p:cNvPr id="5" name="Text 3"/>
          <p:cNvSpPr/>
          <p:nvPr/>
        </p:nvSpPr>
        <p:spPr>
          <a:xfrm>
            <a:off x="812800" y="3893840"/>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BD5E1"/>
                </a:solidFill>
                <a:latin typeface="Public Sans" pitchFamily="34" charset="0"/>
                <a:ea typeface="Public Sans" pitchFamily="34" charset="-122"/>
                <a:cs typeface="Public Sans" pitchFamily="34" charset="-120"/>
              </a:rPr>
              <a:t>One system for a delivery company to take orders, dispatch riders, prove every delivery and settle the cash.</a:t>
            </a:r>
            <a:endParaRPr lang="en-US" sz="2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i="1" dirty="0">
                <a:solidFill>
                  <a:srgbClr val="94A3B8"/>
                </a:solidFill>
                <a:latin typeface="Public Sans" pitchFamily="34" charset="0"/>
                <a:ea typeface="Public Sans" pitchFamily="34" charset="-122"/>
                <a:cs typeface="Public Sans" pitchFamily="34" charset="-120"/>
              </a:rPr>
              <a:t>Chukwu Chinecherem  · October 21,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THE PROBLEM</a:t>
            </a:r>
            <a:endParaRPr lang="en-US" sz="1200" dirty="0"/>
          </a:p>
        </p:txBody>
      </p:sp>
      <p:sp>
        <p:nvSpPr>
          <p:cNvPr id="3" name="Text 1"/>
          <p:cNvSpPr/>
          <p:nvPr>
            <p:ph type="title"/>
          </p:nvPr>
        </p:nvSpPr>
        <p:spPr>
          <a:xfrm>
            <a:off x="812800" y="1127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Same-city delivery in Nigeria runs on calls and trust</a:t>
            </a:r>
            <a:endParaRPr lang="en-US" sz="3600" dirty="0"/>
          </a:p>
        </p:txBody>
      </p:sp>
      <p:sp>
        <p:nvSpPr>
          <p:cNvPr id="4" name="Shape 2"/>
          <p:cNvSpPr/>
          <p:nvPr/>
        </p:nvSpPr>
        <p:spPr>
          <a:xfrm>
            <a:off x="815975" y="2492177"/>
            <a:ext cx="3380284" cy="1260971"/>
          </a:xfrm>
          <a:prstGeom prst="roundRect">
            <a:avLst>
              <a:gd name="adj" fmla="val 7805"/>
            </a:avLst>
          </a:prstGeom>
          <a:solidFill>
            <a:srgbClr val="FFFFFF"/>
          </a:solidFill>
          <a:ln w="6350">
            <a:solidFill>
              <a:srgbClr val="E2E8F0"/>
            </a:solidFill>
            <a:prstDash val="solid"/>
          </a:ln>
        </p:spPr>
      </p:sp>
      <p:sp>
        <p:nvSpPr>
          <p:cNvPr id="5" name="Text 3"/>
          <p:cNvSpPr/>
          <p:nvPr/>
        </p:nvSpPr>
        <p:spPr>
          <a:xfrm>
            <a:off x="1073150" y="2749352"/>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Scattered orders</a:t>
            </a:r>
            <a:endParaRPr lang="en-US" sz="1600" dirty="0"/>
          </a:p>
        </p:txBody>
      </p:sp>
      <p:sp>
        <p:nvSpPr>
          <p:cNvPr id="6" name="Text 4"/>
          <p:cNvSpPr/>
          <p:nvPr/>
        </p:nvSpPr>
        <p:spPr>
          <a:xfrm>
            <a:off x="1073150" y="3069332"/>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WhatsApp, Instagram, calls and spreadsheets. No single record.</a:t>
            </a:r>
            <a:endParaRPr lang="en-US" sz="1200" dirty="0"/>
          </a:p>
        </p:txBody>
      </p:sp>
      <p:sp>
        <p:nvSpPr>
          <p:cNvPr id="7" name="Shape 5"/>
          <p:cNvSpPr/>
          <p:nvPr/>
        </p:nvSpPr>
        <p:spPr>
          <a:xfrm>
            <a:off x="4405809" y="2492177"/>
            <a:ext cx="3380284" cy="1260971"/>
          </a:xfrm>
          <a:prstGeom prst="roundRect">
            <a:avLst>
              <a:gd name="adj" fmla="val 7805"/>
            </a:avLst>
          </a:prstGeom>
          <a:solidFill>
            <a:srgbClr val="FFFFFF"/>
          </a:solidFill>
          <a:ln w="6350">
            <a:solidFill>
              <a:srgbClr val="E2E8F0"/>
            </a:solidFill>
            <a:prstDash val="solid"/>
          </a:ln>
        </p:spPr>
      </p:sp>
      <p:sp>
        <p:nvSpPr>
          <p:cNvPr id="8" name="Text 6"/>
          <p:cNvSpPr/>
          <p:nvPr/>
        </p:nvSpPr>
        <p:spPr>
          <a:xfrm>
            <a:off x="4662984" y="2749352"/>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Vague addresses</a:t>
            </a:r>
            <a:endParaRPr lang="en-US" sz="1600" dirty="0"/>
          </a:p>
        </p:txBody>
      </p:sp>
      <p:sp>
        <p:nvSpPr>
          <p:cNvPr id="9" name="Text 7"/>
          <p:cNvSpPr/>
          <p:nvPr/>
        </p:nvSpPr>
        <p:spPr>
          <a:xfrm>
            <a:off x="4662984" y="3069332"/>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“Opposite the blue church, after the second junction.”</a:t>
            </a:r>
            <a:endParaRPr lang="en-US" sz="1200" dirty="0"/>
          </a:p>
        </p:txBody>
      </p:sp>
      <p:sp>
        <p:nvSpPr>
          <p:cNvPr id="10" name="Shape 8"/>
          <p:cNvSpPr/>
          <p:nvPr/>
        </p:nvSpPr>
        <p:spPr>
          <a:xfrm>
            <a:off x="7995642" y="2492177"/>
            <a:ext cx="3380284" cy="1260971"/>
          </a:xfrm>
          <a:prstGeom prst="roundRect">
            <a:avLst>
              <a:gd name="adj" fmla="val 7805"/>
            </a:avLst>
          </a:prstGeom>
          <a:solidFill>
            <a:srgbClr val="FFFFFF"/>
          </a:solidFill>
          <a:ln w="6350">
            <a:solidFill>
              <a:srgbClr val="E2E8F0"/>
            </a:solidFill>
            <a:prstDash val="solid"/>
          </a:ln>
        </p:spPr>
      </p:sp>
      <p:sp>
        <p:nvSpPr>
          <p:cNvPr id="11" name="Text 9"/>
          <p:cNvSpPr/>
          <p:nvPr/>
        </p:nvSpPr>
        <p:spPr>
          <a:xfrm>
            <a:off x="8252817" y="2749352"/>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Blind dispatch</a:t>
            </a:r>
            <a:endParaRPr lang="en-US" sz="1600" dirty="0"/>
          </a:p>
        </p:txBody>
      </p:sp>
      <p:sp>
        <p:nvSpPr>
          <p:cNvPr id="12" name="Text 10"/>
          <p:cNvSpPr/>
          <p:nvPr/>
        </p:nvSpPr>
        <p:spPr>
          <a:xfrm>
            <a:off x="8252817" y="3069332"/>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Nobody knows which rider holds which parcel, or where they are.</a:t>
            </a:r>
            <a:endParaRPr lang="en-US" sz="1200" dirty="0"/>
          </a:p>
        </p:txBody>
      </p:sp>
      <p:sp>
        <p:nvSpPr>
          <p:cNvPr id="13" name="Shape 11"/>
          <p:cNvSpPr/>
          <p:nvPr/>
        </p:nvSpPr>
        <p:spPr>
          <a:xfrm>
            <a:off x="815975" y="3962698"/>
            <a:ext cx="3380284" cy="1260971"/>
          </a:xfrm>
          <a:prstGeom prst="roundRect">
            <a:avLst>
              <a:gd name="adj" fmla="val 7805"/>
            </a:avLst>
          </a:prstGeom>
          <a:solidFill>
            <a:srgbClr val="FFFFFF"/>
          </a:solidFill>
          <a:ln w="6350">
            <a:solidFill>
              <a:srgbClr val="E2E8F0"/>
            </a:solidFill>
            <a:prstDash val="solid"/>
          </a:ln>
        </p:spPr>
      </p:sp>
      <p:sp>
        <p:nvSpPr>
          <p:cNvPr id="14" name="Text 12"/>
          <p:cNvSpPr/>
          <p:nvPr/>
        </p:nvSpPr>
        <p:spPr>
          <a:xfrm>
            <a:off x="1073150" y="4219873"/>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Weak proof</a:t>
            </a:r>
            <a:endParaRPr lang="en-US" sz="1600" dirty="0"/>
          </a:p>
        </p:txBody>
      </p:sp>
      <p:sp>
        <p:nvSpPr>
          <p:cNvPr id="15" name="Text 13"/>
          <p:cNvSpPr/>
          <p:nvPr/>
        </p:nvSpPr>
        <p:spPr>
          <a:xfrm>
            <a:off x="1073150" y="4539853"/>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A rider can say “delivered” when it wasn’t. Disputes follow.</a:t>
            </a:r>
            <a:endParaRPr lang="en-US" sz="1200" dirty="0"/>
          </a:p>
        </p:txBody>
      </p:sp>
      <p:sp>
        <p:nvSpPr>
          <p:cNvPr id="16" name="Shape 14"/>
          <p:cNvSpPr/>
          <p:nvPr/>
        </p:nvSpPr>
        <p:spPr>
          <a:xfrm>
            <a:off x="4405809" y="3962698"/>
            <a:ext cx="3380284" cy="1260971"/>
          </a:xfrm>
          <a:prstGeom prst="roundRect">
            <a:avLst>
              <a:gd name="adj" fmla="val 7805"/>
            </a:avLst>
          </a:prstGeom>
          <a:solidFill>
            <a:srgbClr val="FFFFFF"/>
          </a:solidFill>
          <a:ln w="6350">
            <a:solidFill>
              <a:srgbClr val="E2E8F0"/>
            </a:solidFill>
            <a:prstDash val="solid"/>
          </a:ln>
        </p:spPr>
      </p:sp>
      <p:sp>
        <p:nvSpPr>
          <p:cNvPr id="17" name="Text 15"/>
          <p:cNvSpPr/>
          <p:nvPr/>
        </p:nvSpPr>
        <p:spPr>
          <a:xfrm>
            <a:off x="4662984" y="4219873"/>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Leaking cash</a:t>
            </a:r>
            <a:endParaRPr lang="en-US" sz="1600" dirty="0"/>
          </a:p>
        </p:txBody>
      </p:sp>
      <p:sp>
        <p:nvSpPr>
          <p:cNvPr id="18" name="Text 16"/>
          <p:cNvSpPr/>
          <p:nvPr/>
        </p:nvSpPr>
        <p:spPr>
          <a:xfrm>
            <a:off x="4662984" y="4539853"/>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Cash on delivery is reconciled by hand, shop by shop.</a:t>
            </a:r>
            <a:endParaRPr lang="en-US" sz="1200" dirty="0"/>
          </a:p>
        </p:txBody>
      </p:sp>
      <p:sp>
        <p:nvSpPr>
          <p:cNvPr id="19" name="Shape 17"/>
          <p:cNvSpPr/>
          <p:nvPr/>
        </p:nvSpPr>
        <p:spPr>
          <a:xfrm>
            <a:off x="7995642" y="3962698"/>
            <a:ext cx="3380284" cy="1260971"/>
          </a:xfrm>
          <a:prstGeom prst="roundRect">
            <a:avLst>
              <a:gd name="adj" fmla="val 7805"/>
            </a:avLst>
          </a:prstGeom>
          <a:solidFill>
            <a:srgbClr val="FFFFFF"/>
          </a:solidFill>
          <a:ln w="6350">
            <a:solidFill>
              <a:srgbClr val="E2E8F0"/>
            </a:solidFill>
            <a:prstDash val="solid"/>
          </a:ln>
        </p:spPr>
      </p:sp>
      <p:sp>
        <p:nvSpPr>
          <p:cNvPr id="20" name="Text 18"/>
          <p:cNvSpPr/>
          <p:nvPr/>
        </p:nvSpPr>
        <p:spPr>
          <a:xfrm>
            <a:off x="8252817" y="4219873"/>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Patchy data</a:t>
            </a:r>
            <a:endParaRPr lang="en-US" sz="1600" dirty="0"/>
          </a:p>
        </p:txBody>
      </p:sp>
      <p:sp>
        <p:nvSpPr>
          <p:cNvPr id="21" name="Text 19"/>
          <p:cNvSpPr/>
          <p:nvPr/>
        </p:nvSpPr>
        <p:spPr>
          <a:xfrm>
            <a:off x="8252817" y="4539853"/>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Riders lose signal mid-route, so online-only apps fail.</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46D1"/>
        </a:solidFill>
      </p:bgPr>
    </p:bg>
    <p:spTree>
      <p:nvGrpSpPr>
        <p:cNvPr id="1" name=""/>
        <p:cNvGrpSpPr/>
        <p:nvPr/>
      </p:nvGrpSpPr>
      <p:grpSpPr>
        <a:xfrm>
          <a:off x="0" y="0"/>
          <a:ext cx="0" cy="0"/>
          <a:chOff x="0" y="0"/>
          <a:chExt cx="0" cy="0"/>
        </a:xfrm>
      </p:grpSpPr>
      <p:sp>
        <p:nvSpPr>
          <p:cNvPr id="2" name="Text 0"/>
          <p:cNvSpPr/>
          <p:nvPr/>
        </p:nvSpPr>
        <p:spPr>
          <a:xfrm>
            <a:off x="812800" y="15113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DCE5FB"/>
                </a:solidFill>
                <a:latin typeface="Public Sans" pitchFamily="34" charset="0"/>
                <a:ea typeface="Public Sans" pitchFamily="34" charset="-122"/>
                <a:cs typeface="Public Sans" pitchFamily="34" charset="-120"/>
              </a:rPr>
              <a:t>THE SOLUTION</a:t>
            </a:r>
            <a:endParaRPr lang="en-US" sz="1600" dirty="0"/>
          </a:p>
        </p:txBody>
      </p:sp>
      <p:sp>
        <p:nvSpPr>
          <p:cNvPr id="3" name="Text 1"/>
          <p:cNvSpPr/>
          <p:nvPr>
            <p:ph type="title"/>
          </p:nvPr>
        </p:nvSpPr>
        <p:spPr>
          <a:xfrm>
            <a:off x="812800" y="2100659"/>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8FAFC"/>
                </a:solidFill>
                <a:latin typeface="Rubik" pitchFamily="34" charset="0"/>
                <a:ea typeface="Rubik" pitchFamily="34" charset="-122"/>
                <a:cs typeface="Rubik" pitchFamily="34" charset="-120"/>
              </a:rPr>
              <a:t>Not another delivery app. The back office of a delivery company.</a:t>
            </a:r>
            <a:endParaRPr lang="en-US" sz="4800" dirty="0"/>
          </a:p>
        </p:txBody>
      </p:sp>
      <p:sp>
        <p:nvSpPr>
          <p:cNvPr id="4" name="Text 2"/>
          <p:cNvSpPr/>
          <p:nvPr/>
        </p:nvSpPr>
        <p:spPr>
          <a:xfrm>
            <a:off x="812800" y="4417020"/>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CE5FB"/>
                </a:solidFill>
                <a:latin typeface="Public Sans" pitchFamily="34" charset="0"/>
                <a:ea typeface="Public Sans" pitchFamily="34" charset="-122"/>
                <a:cs typeface="Public Sans" pitchFamily="34" charset="-120"/>
              </a:rPr>
              <a:t>Many companies on one platform, each running its shops, riders, proof and cash in one place.</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5FB"/>
                </a:solidFill>
                <a:latin typeface="Public Sans" pitchFamily="34" charset="0"/>
                <a:ea typeface="Public Sans" pitchFamily="34" charset="-122"/>
                <a:cs typeface="Public Sans" pitchFamily="34" charset="-120"/>
              </a:rPr>
              <a:t>RouteBridge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WHO USES IT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Four people, four screens</a:t>
            </a:r>
            <a:endParaRPr lang="en-US" sz="3600" dirty="0"/>
          </a:p>
        </p:txBody>
      </p:sp>
      <p:sp>
        <p:nvSpPr>
          <p:cNvPr id="4" name="Shape 2"/>
          <p:cNvSpPr/>
          <p:nvPr/>
        </p:nvSpPr>
        <p:spPr>
          <a:xfrm>
            <a:off x="815975" y="1989336"/>
            <a:ext cx="2482850" cy="2383532"/>
          </a:xfrm>
          <a:prstGeom prst="roundRect">
            <a:avLst>
              <a:gd name="adj" fmla="val 4129"/>
            </a:avLst>
          </a:prstGeom>
          <a:solidFill>
            <a:srgbClr val="FFFFFF"/>
          </a:solidFill>
          <a:ln w="6350">
            <a:solidFill>
              <a:srgbClr val="E2E8F0"/>
            </a:solidFill>
            <a:prstDash val="solid"/>
          </a:ln>
        </p:spPr>
      </p:sp>
      <p:pic>
        <p:nvPicPr>
          <p:cNvPr id="5" name="Image 0" descr="Settings">    </p:cNvPr>
          <p:cNvPicPr>
            <a:picLocks noChangeAspect="1"/>
          </p:cNvPicPr>
          <p:nvPr/>
        </p:nvPicPr>
        <p:blipFill>
          <a:blip r:embed="rId1"/>
          <a:srcRect l="0" r="0" t="0" b="0"/>
          <a:stretch/>
        </p:blipFill>
        <p:spPr>
          <a:xfrm>
            <a:off x="1073150" y="2246511"/>
            <a:ext cx="355600" cy="355600"/>
          </a:xfrm>
          <a:prstGeom prst="rect">
            <a:avLst/>
          </a:prstGeom>
        </p:spPr>
      </p:pic>
      <p:sp>
        <p:nvSpPr>
          <p:cNvPr id="6" name="Text 3"/>
          <p:cNvSpPr/>
          <p:nvPr/>
        </p:nvSpPr>
        <p:spPr>
          <a:xfrm>
            <a:off x="10731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Admin</a:t>
            </a:r>
            <a:endParaRPr lang="en-US" sz="1600" dirty="0"/>
          </a:p>
        </p:txBody>
      </p:sp>
      <p:sp>
        <p:nvSpPr>
          <p:cNvPr id="7" name="Text 4"/>
          <p:cNvSpPr/>
          <p:nvPr/>
        </p:nvSpPr>
        <p:spPr>
          <a:xfrm>
            <a:off x="1073150" y="3049091"/>
            <a:ext cx="2027555"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The company’s owner. Uses the console to add shops and drivers, assign orders, handle problems, settle cash and read reports.</a:t>
            </a:r>
            <a:endParaRPr lang="en-US" sz="1200" dirty="0"/>
          </a:p>
        </p:txBody>
      </p:sp>
      <p:sp>
        <p:nvSpPr>
          <p:cNvPr id="8" name="Shape 5"/>
          <p:cNvSpPr/>
          <p:nvPr/>
        </p:nvSpPr>
        <p:spPr>
          <a:xfrm>
            <a:off x="3508375" y="1989336"/>
            <a:ext cx="2482850" cy="2383532"/>
          </a:xfrm>
          <a:prstGeom prst="roundRect">
            <a:avLst>
              <a:gd name="adj" fmla="val 4129"/>
            </a:avLst>
          </a:prstGeom>
          <a:solidFill>
            <a:srgbClr val="FFFFFF"/>
          </a:solidFill>
          <a:ln w="6350">
            <a:solidFill>
              <a:srgbClr val="E2E8F0"/>
            </a:solidFill>
            <a:prstDash val="solid"/>
          </a:ln>
        </p:spPr>
      </p:sp>
      <p:pic>
        <p:nvPicPr>
          <p:cNvPr id="9" name="Image 1" descr="Home">    </p:cNvPr>
          <p:cNvPicPr>
            <a:picLocks noChangeAspect="1"/>
          </p:cNvPicPr>
          <p:nvPr/>
        </p:nvPicPr>
        <p:blipFill>
          <a:blip r:embed="rId2"/>
          <a:srcRect l="0" r="0" t="0" b="0"/>
          <a:stretch/>
        </p:blipFill>
        <p:spPr>
          <a:xfrm>
            <a:off x="3765550" y="2246511"/>
            <a:ext cx="355600" cy="355600"/>
          </a:xfrm>
          <a:prstGeom prst="rect">
            <a:avLst/>
          </a:prstGeom>
        </p:spPr>
      </p:pic>
      <p:sp>
        <p:nvSpPr>
          <p:cNvPr id="10" name="Text 6"/>
          <p:cNvSpPr/>
          <p:nvPr/>
        </p:nvSpPr>
        <p:spPr>
          <a:xfrm>
            <a:off x="37655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Shop</a:t>
            </a:r>
            <a:endParaRPr lang="en-US" sz="1600" dirty="0"/>
          </a:p>
        </p:txBody>
      </p:sp>
      <p:sp>
        <p:nvSpPr>
          <p:cNvPr id="11" name="Text 7"/>
          <p:cNvSpPr/>
          <p:nvPr/>
        </p:nvSpPr>
        <p:spPr>
          <a:xfrm>
            <a:off x="3765550" y="3049091"/>
            <a:ext cx="202755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Registers itself, places orders, follows them live, sees statements, raises claims and pays for its plan.</a:t>
            </a:r>
            <a:endParaRPr lang="en-US" sz="1200" dirty="0"/>
          </a:p>
        </p:txBody>
      </p:sp>
      <p:sp>
        <p:nvSpPr>
          <p:cNvPr id="12" name="Shape 8"/>
          <p:cNvSpPr/>
          <p:nvPr/>
        </p:nvSpPr>
        <p:spPr>
          <a:xfrm>
            <a:off x="6200775" y="1989336"/>
            <a:ext cx="2482850" cy="2383532"/>
          </a:xfrm>
          <a:prstGeom prst="roundRect">
            <a:avLst>
              <a:gd name="adj" fmla="val 4129"/>
            </a:avLst>
          </a:prstGeom>
          <a:solidFill>
            <a:srgbClr val="FFFFFF"/>
          </a:solidFill>
          <a:ln w="6350">
            <a:solidFill>
              <a:srgbClr val="E2E8F0"/>
            </a:solidFill>
            <a:prstDash val="solid"/>
          </a:ln>
        </p:spPr>
      </p:sp>
      <p:pic>
        <p:nvPicPr>
          <p:cNvPr id="13" name="Image 2" descr="PaperPlane">    </p:cNvPr>
          <p:cNvPicPr>
            <a:picLocks noChangeAspect="1"/>
          </p:cNvPicPr>
          <p:nvPr/>
        </p:nvPicPr>
        <p:blipFill>
          <a:blip r:embed="rId3"/>
          <a:srcRect l="0" r="0" t="0" b="0"/>
          <a:stretch/>
        </p:blipFill>
        <p:spPr>
          <a:xfrm>
            <a:off x="6457950" y="2246511"/>
            <a:ext cx="355600" cy="355600"/>
          </a:xfrm>
          <a:prstGeom prst="rect">
            <a:avLst/>
          </a:prstGeom>
        </p:spPr>
      </p:pic>
      <p:sp>
        <p:nvSpPr>
          <p:cNvPr id="14" name="Text 9"/>
          <p:cNvSpPr/>
          <p:nvPr/>
        </p:nvSpPr>
        <p:spPr>
          <a:xfrm>
            <a:off x="64579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Driver</a:t>
            </a:r>
            <a:endParaRPr lang="en-US" sz="1600" dirty="0"/>
          </a:p>
        </p:txBody>
      </p:sp>
      <p:sp>
        <p:nvSpPr>
          <p:cNvPr id="15" name="Text 10"/>
          <p:cNvSpPr/>
          <p:nvPr/>
        </p:nvSpPr>
        <p:spPr>
          <a:xfrm>
            <a:off x="6457950" y="3049091"/>
            <a:ext cx="2027555"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A phone app that works offline. Moves each job through its steps, takes the photo, enters the code, records the cash.</a:t>
            </a:r>
            <a:endParaRPr lang="en-US" sz="1200" dirty="0"/>
          </a:p>
        </p:txBody>
      </p:sp>
      <p:sp>
        <p:nvSpPr>
          <p:cNvPr id="16" name="Shape 11"/>
          <p:cNvSpPr/>
          <p:nvPr/>
        </p:nvSpPr>
        <p:spPr>
          <a:xfrm>
            <a:off x="8893175" y="1989336"/>
            <a:ext cx="2482850" cy="2383532"/>
          </a:xfrm>
          <a:prstGeom prst="roundRect">
            <a:avLst>
              <a:gd name="adj" fmla="val 4129"/>
            </a:avLst>
          </a:prstGeom>
          <a:solidFill>
            <a:srgbClr val="FFFFFF"/>
          </a:solidFill>
          <a:ln w="6350">
            <a:solidFill>
              <a:srgbClr val="E2E8F0"/>
            </a:solidFill>
            <a:prstDash val="solid"/>
          </a:ln>
        </p:spPr>
      </p:sp>
      <p:pic>
        <p:nvPicPr>
          <p:cNvPr id="17" name="Image 3" descr="Users">    </p:cNvPr>
          <p:cNvPicPr>
            <a:picLocks noChangeAspect="1"/>
          </p:cNvPicPr>
          <p:nvPr/>
        </p:nvPicPr>
        <p:blipFill>
          <a:blip r:embed="rId4"/>
          <a:srcRect l="0" r="0" t="0" b="0"/>
          <a:stretch/>
        </p:blipFill>
        <p:spPr>
          <a:xfrm>
            <a:off x="9150350" y="2246511"/>
            <a:ext cx="355600" cy="355600"/>
          </a:xfrm>
          <a:prstGeom prst="rect">
            <a:avLst/>
          </a:prstGeom>
        </p:spPr>
      </p:pic>
      <p:sp>
        <p:nvSpPr>
          <p:cNvPr id="18" name="Text 12"/>
          <p:cNvSpPr/>
          <p:nvPr/>
        </p:nvSpPr>
        <p:spPr>
          <a:xfrm>
            <a:off x="91503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Customer</a:t>
            </a:r>
            <a:endParaRPr lang="en-US" sz="1600" dirty="0"/>
          </a:p>
        </p:txBody>
      </p:sp>
      <p:sp>
        <p:nvSpPr>
          <p:cNvPr id="19" name="Text 13"/>
          <p:cNvSpPr/>
          <p:nvPr/>
        </p:nvSpPr>
        <p:spPr>
          <a:xfrm>
            <a:off x="9150350" y="3049091"/>
            <a:ext cx="202755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No sign-in. A tracking link shows the rider on a map and the delivery code.</a:t>
            </a:r>
            <a:endParaRPr lang="en-US" sz="12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HOW AN ORDER MOVES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Every order follows the same strict path</a:t>
            </a:r>
            <a:endParaRPr lang="en-US" sz="3600" dirty="0"/>
          </a:p>
        </p:txBody>
      </p:sp>
      <p:sp>
        <p:nvSpPr>
          <p:cNvPr id="4" name="Shape 2"/>
          <p:cNvSpPr/>
          <p:nvPr/>
        </p:nvSpPr>
        <p:spPr>
          <a:xfrm>
            <a:off x="815975" y="2088356"/>
            <a:ext cx="1437184" cy="1022152"/>
          </a:xfrm>
          <a:prstGeom prst="roundRect">
            <a:avLst>
              <a:gd name="adj" fmla="val 9629"/>
            </a:avLst>
          </a:prstGeom>
          <a:solidFill>
            <a:srgbClr val="FFFFFF"/>
          </a:solidFill>
          <a:ln w="6350">
            <a:solidFill>
              <a:srgbClr val="E2E8F0"/>
            </a:solidFill>
            <a:prstDash val="solid"/>
          </a:ln>
        </p:spPr>
      </p:sp>
      <p:sp>
        <p:nvSpPr>
          <p:cNvPr id="5" name="Text 3"/>
          <p:cNvSpPr/>
          <p:nvPr/>
        </p:nvSpPr>
        <p:spPr>
          <a:xfrm>
            <a:off x="996950" y="2269331"/>
            <a:ext cx="11260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Pending</a:t>
            </a:r>
            <a:endParaRPr lang="en-US" sz="1400" dirty="0"/>
          </a:p>
        </p:txBody>
      </p:sp>
      <p:sp>
        <p:nvSpPr>
          <p:cNvPr id="6" name="Text 4"/>
          <p:cNvSpPr/>
          <p:nvPr/>
        </p:nvSpPr>
        <p:spPr>
          <a:xfrm>
            <a:off x="996950" y="2533452"/>
            <a:ext cx="1126034"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Public Sans" pitchFamily="34" charset="0"/>
                <a:ea typeface="Public Sans" pitchFamily="34" charset="-122"/>
                <a:cs typeface="Public Sans" pitchFamily="34" charset="-120"/>
              </a:rPr>
              <a:t>Shop places the order</a:t>
            </a:r>
            <a:endParaRPr lang="en-US" sz="1200" dirty="0"/>
          </a:p>
        </p:txBody>
      </p:sp>
      <p:pic>
        <p:nvPicPr>
          <p:cNvPr id="7" name="Image 0" descr="connector">    </p:cNvPr>
          <p:cNvPicPr>
            <a:picLocks noChangeAspect="1"/>
          </p:cNvPicPr>
          <p:nvPr/>
        </p:nvPicPr>
        <p:blipFill>
          <a:blip r:embed="rId1"/>
          <a:srcRect l="0" r="0" t="0" b="0"/>
          <a:stretch/>
        </p:blipFill>
        <p:spPr>
          <a:xfrm>
            <a:off x="2332534" y="2561332"/>
            <a:ext cx="228600" cy="76200"/>
          </a:xfrm>
          <a:prstGeom prst="rect">
            <a:avLst/>
          </a:prstGeom>
        </p:spPr>
      </p:pic>
      <p:sp>
        <p:nvSpPr>
          <p:cNvPr id="8" name="Shape 5"/>
          <p:cNvSpPr/>
          <p:nvPr/>
        </p:nvSpPr>
        <p:spPr>
          <a:xfrm>
            <a:off x="2640509" y="1989336"/>
            <a:ext cx="1437283" cy="1220192"/>
          </a:xfrm>
          <a:prstGeom prst="roundRect">
            <a:avLst>
              <a:gd name="adj" fmla="val 8066"/>
            </a:avLst>
          </a:prstGeom>
          <a:solidFill>
            <a:srgbClr val="FFFFFF"/>
          </a:solidFill>
          <a:ln w="6350">
            <a:solidFill>
              <a:srgbClr val="E2E8F0"/>
            </a:solidFill>
            <a:prstDash val="solid"/>
          </a:ln>
        </p:spPr>
      </p:sp>
      <p:sp>
        <p:nvSpPr>
          <p:cNvPr id="9" name="Text 6"/>
          <p:cNvSpPr/>
          <p:nvPr/>
        </p:nvSpPr>
        <p:spPr>
          <a:xfrm>
            <a:off x="2821484" y="2170311"/>
            <a:ext cx="11261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Assigned</a:t>
            </a:r>
            <a:endParaRPr lang="en-US" sz="1400" dirty="0"/>
          </a:p>
        </p:txBody>
      </p:sp>
      <p:sp>
        <p:nvSpPr>
          <p:cNvPr id="10" name="Text 7"/>
          <p:cNvSpPr/>
          <p:nvPr/>
        </p:nvSpPr>
        <p:spPr>
          <a:xfrm>
            <a:off x="2821484" y="2434431"/>
            <a:ext cx="1126133"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Public Sans" pitchFamily="34" charset="0"/>
                <a:ea typeface="Public Sans" pitchFamily="34" charset="-122"/>
                <a:cs typeface="Public Sans" pitchFamily="34" charset="-120"/>
              </a:rPr>
              <a:t>Admin or auto-assign picks a rider</a:t>
            </a:r>
            <a:endParaRPr lang="en-US" sz="1200" dirty="0"/>
          </a:p>
        </p:txBody>
      </p:sp>
      <p:pic>
        <p:nvPicPr>
          <p:cNvPr id="11" name="Image 1" descr="connector">    </p:cNvPr>
          <p:cNvPicPr>
            <a:picLocks noChangeAspect="1"/>
          </p:cNvPicPr>
          <p:nvPr/>
        </p:nvPicPr>
        <p:blipFill>
          <a:blip r:embed="rId2"/>
          <a:srcRect l="0" r="0" t="0" b="0"/>
          <a:stretch/>
        </p:blipFill>
        <p:spPr>
          <a:xfrm>
            <a:off x="4157166" y="2561332"/>
            <a:ext cx="228600" cy="76200"/>
          </a:xfrm>
          <a:prstGeom prst="rect">
            <a:avLst/>
          </a:prstGeom>
        </p:spPr>
      </p:pic>
      <p:sp>
        <p:nvSpPr>
          <p:cNvPr id="12" name="Shape 8"/>
          <p:cNvSpPr/>
          <p:nvPr/>
        </p:nvSpPr>
        <p:spPr>
          <a:xfrm>
            <a:off x="4465141" y="2088356"/>
            <a:ext cx="1437184" cy="1022152"/>
          </a:xfrm>
          <a:prstGeom prst="roundRect">
            <a:avLst>
              <a:gd name="adj" fmla="val 9629"/>
            </a:avLst>
          </a:prstGeom>
          <a:solidFill>
            <a:srgbClr val="FFFFFF"/>
          </a:solidFill>
          <a:ln w="6350">
            <a:solidFill>
              <a:srgbClr val="E2E8F0"/>
            </a:solidFill>
            <a:prstDash val="solid"/>
          </a:ln>
        </p:spPr>
      </p:sp>
      <p:sp>
        <p:nvSpPr>
          <p:cNvPr id="13" name="Text 9"/>
          <p:cNvSpPr/>
          <p:nvPr/>
        </p:nvSpPr>
        <p:spPr>
          <a:xfrm>
            <a:off x="4646116" y="2269331"/>
            <a:ext cx="11260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Accepted</a:t>
            </a:r>
            <a:endParaRPr lang="en-US" sz="1400" dirty="0"/>
          </a:p>
        </p:txBody>
      </p:sp>
      <p:sp>
        <p:nvSpPr>
          <p:cNvPr id="14" name="Text 10"/>
          <p:cNvSpPr/>
          <p:nvPr/>
        </p:nvSpPr>
        <p:spPr>
          <a:xfrm>
            <a:off x="4646116" y="2533452"/>
            <a:ext cx="1126034"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Public Sans" pitchFamily="34" charset="0"/>
                <a:ea typeface="Public Sans" pitchFamily="34" charset="-122"/>
                <a:cs typeface="Public Sans" pitchFamily="34" charset="-120"/>
              </a:rPr>
              <a:t>Rider takes the job</a:t>
            </a:r>
            <a:endParaRPr lang="en-US" sz="1200" dirty="0"/>
          </a:p>
        </p:txBody>
      </p:sp>
      <p:pic>
        <p:nvPicPr>
          <p:cNvPr id="15" name="Image 2" descr="connector">    </p:cNvPr>
          <p:cNvPicPr>
            <a:picLocks noChangeAspect="1"/>
          </p:cNvPicPr>
          <p:nvPr/>
        </p:nvPicPr>
        <p:blipFill>
          <a:blip r:embed="rId3"/>
          <a:srcRect l="0" r="0" t="0" b="0"/>
          <a:stretch/>
        </p:blipFill>
        <p:spPr>
          <a:xfrm>
            <a:off x="5981700" y="2561332"/>
            <a:ext cx="228600" cy="76200"/>
          </a:xfrm>
          <a:prstGeom prst="rect">
            <a:avLst/>
          </a:prstGeom>
        </p:spPr>
      </p:pic>
      <p:sp>
        <p:nvSpPr>
          <p:cNvPr id="16" name="Shape 11"/>
          <p:cNvSpPr/>
          <p:nvPr/>
        </p:nvSpPr>
        <p:spPr>
          <a:xfrm>
            <a:off x="6289675" y="2088356"/>
            <a:ext cx="1437283" cy="1022152"/>
          </a:xfrm>
          <a:prstGeom prst="roundRect">
            <a:avLst>
              <a:gd name="adj" fmla="val 9629"/>
            </a:avLst>
          </a:prstGeom>
          <a:solidFill>
            <a:srgbClr val="FFFFFF"/>
          </a:solidFill>
          <a:ln w="6350">
            <a:solidFill>
              <a:srgbClr val="E2E8F0"/>
            </a:solidFill>
            <a:prstDash val="solid"/>
          </a:ln>
        </p:spPr>
      </p:sp>
      <p:sp>
        <p:nvSpPr>
          <p:cNvPr id="17" name="Text 12"/>
          <p:cNvSpPr/>
          <p:nvPr/>
        </p:nvSpPr>
        <p:spPr>
          <a:xfrm>
            <a:off x="6470650" y="2269331"/>
            <a:ext cx="11261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En route</a:t>
            </a:r>
            <a:endParaRPr lang="en-US" sz="1400" dirty="0"/>
          </a:p>
        </p:txBody>
      </p:sp>
      <p:sp>
        <p:nvSpPr>
          <p:cNvPr id="18" name="Text 13"/>
          <p:cNvSpPr/>
          <p:nvPr/>
        </p:nvSpPr>
        <p:spPr>
          <a:xfrm>
            <a:off x="6470650" y="2533452"/>
            <a:ext cx="112613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Public Sans" pitchFamily="34" charset="0"/>
                <a:ea typeface="Public Sans" pitchFamily="34" charset="-122"/>
                <a:cs typeface="Public Sans" pitchFamily="34" charset="-120"/>
              </a:rPr>
              <a:t>Customer sees the rider live</a:t>
            </a:r>
            <a:endParaRPr lang="en-US" sz="1200" dirty="0"/>
          </a:p>
        </p:txBody>
      </p:sp>
      <p:pic>
        <p:nvPicPr>
          <p:cNvPr id="19" name="Image 3" descr="connector">    </p:cNvPr>
          <p:cNvPicPr>
            <a:picLocks noChangeAspect="1"/>
          </p:cNvPicPr>
          <p:nvPr/>
        </p:nvPicPr>
        <p:blipFill>
          <a:blip r:embed="rId4"/>
          <a:srcRect l="0" r="0" t="0" b="0"/>
          <a:stretch/>
        </p:blipFill>
        <p:spPr>
          <a:xfrm>
            <a:off x="7806333" y="2561332"/>
            <a:ext cx="228600" cy="76200"/>
          </a:xfrm>
          <a:prstGeom prst="rect">
            <a:avLst/>
          </a:prstGeom>
        </p:spPr>
      </p:pic>
      <p:sp>
        <p:nvSpPr>
          <p:cNvPr id="20" name="Shape 14"/>
          <p:cNvSpPr/>
          <p:nvPr/>
        </p:nvSpPr>
        <p:spPr>
          <a:xfrm>
            <a:off x="8114308" y="2088356"/>
            <a:ext cx="1437184" cy="1022152"/>
          </a:xfrm>
          <a:prstGeom prst="roundRect">
            <a:avLst>
              <a:gd name="adj" fmla="val 9629"/>
            </a:avLst>
          </a:prstGeom>
          <a:solidFill>
            <a:srgbClr val="FFFFFF"/>
          </a:solidFill>
          <a:ln w="6350">
            <a:solidFill>
              <a:srgbClr val="E2E8F0"/>
            </a:solidFill>
            <a:prstDash val="solid"/>
          </a:ln>
        </p:spPr>
      </p:sp>
      <p:sp>
        <p:nvSpPr>
          <p:cNvPr id="21" name="Text 15"/>
          <p:cNvSpPr/>
          <p:nvPr/>
        </p:nvSpPr>
        <p:spPr>
          <a:xfrm>
            <a:off x="8295283" y="2269331"/>
            <a:ext cx="11260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Arrived</a:t>
            </a:r>
            <a:endParaRPr lang="en-US" sz="1400" dirty="0"/>
          </a:p>
        </p:txBody>
      </p:sp>
      <p:sp>
        <p:nvSpPr>
          <p:cNvPr id="22" name="Text 16"/>
          <p:cNvSpPr/>
          <p:nvPr/>
        </p:nvSpPr>
        <p:spPr>
          <a:xfrm>
            <a:off x="8295283" y="2533452"/>
            <a:ext cx="1126034"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Public Sans" pitchFamily="34" charset="0"/>
                <a:ea typeface="Public Sans" pitchFamily="34" charset="-122"/>
                <a:cs typeface="Public Sans" pitchFamily="34" charset="-120"/>
              </a:rPr>
              <a:t>Delivery code is issued</a:t>
            </a:r>
            <a:endParaRPr lang="en-US" sz="1200" dirty="0"/>
          </a:p>
        </p:txBody>
      </p:sp>
      <p:pic>
        <p:nvPicPr>
          <p:cNvPr id="23" name="Image 4" descr="connector">    </p:cNvPr>
          <p:cNvPicPr>
            <a:picLocks noChangeAspect="1"/>
          </p:cNvPicPr>
          <p:nvPr/>
        </p:nvPicPr>
        <p:blipFill>
          <a:blip r:embed="rId5"/>
          <a:srcRect l="0" r="0" t="0" b="0"/>
          <a:stretch/>
        </p:blipFill>
        <p:spPr>
          <a:xfrm>
            <a:off x="9630866" y="2561332"/>
            <a:ext cx="228600" cy="76200"/>
          </a:xfrm>
          <a:prstGeom prst="rect">
            <a:avLst/>
          </a:prstGeom>
        </p:spPr>
      </p:pic>
      <p:sp>
        <p:nvSpPr>
          <p:cNvPr id="24" name="Shape 17"/>
          <p:cNvSpPr/>
          <p:nvPr/>
        </p:nvSpPr>
        <p:spPr>
          <a:xfrm>
            <a:off x="9938841" y="1989336"/>
            <a:ext cx="1437184" cy="1220192"/>
          </a:xfrm>
          <a:prstGeom prst="roundRect">
            <a:avLst>
              <a:gd name="adj" fmla="val 8066"/>
            </a:avLst>
          </a:prstGeom>
          <a:solidFill>
            <a:srgbClr val="15803D"/>
          </a:solidFill>
          <a:ln w="6350">
            <a:solidFill>
              <a:srgbClr val="15803D"/>
            </a:solidFill>
            <a:prstDash val="solid"/>
          </a:ln>
        </p:spPr>
      </p:sp>
      <p:sp>
        <p:nvSpPr>
          <p:cNvPr id="25" name="Text 18"/>
          <p:cNvSpPr/>
          <p:nvPr/>
        </p:nvSpPr>
        <p:spPr>
          <a:xfrm>
            <a:off x="10119816" y="2170311"/>
            <a:ext cx="11260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8FAFC"/>
                </a:solidFill>
                <a:latin typeface="Rubik" pitchFamily="34" charset="0"/>
                <a:ea typeface="Rubik" pitchFamily="34" charset="-122"/>
                <a:cs typeface="Rubik" pitchFamily="34" charset="-120"/>
              </a:rPr>
              <a:t>Delivered</a:t>
            </a:r>
            <a:endParaRPr lang="en-US" sz="1400" dirty="0"/>
          </a:p>
        </p:txBody>
      </p:sp>
      <p:sp>
        <p:nvSpPr>
          <p:cNvPr id="26" name="Text 19"/>
          <p:cNvSpPr/>
          <p:nvPr/>
        </p:nvSpPr>
        <p:spPr>
          <a:xfrm>
            <a:off x="10119816" y="2434431"/>
            <a:ext cx="1126034"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0FDF4"/>
                </a:solidFill>
                <a:latin typeface="Public Sans" pitchFamily="34" charset="0"/>
                <a:ea typeface="Public Sans" pitchFamily="34" charset="-122"/>
                <a:cs typeface="Public Sans" pitchFamily="34" charset="-120"/>
              </a:rPr>
              <a:t>Only after the code checks out</a:t>
            </a:r>
            <a:endParaRPr lang="en-US" sz="1200" dirty="0"/>
          </a:p>
        </p:txBody>
      </p:sp>
      <p:sp>
        <p:nvSpPr>
          <p:cNvPr id="27" name="Shape 20"/>
          <p:cNvSpPr/>
          <p:nvPr/>
        </p:nvSpPr>
        <p:spPr>
          <a:xfrm>
            <a:off x="815975" y="3571478"/>
            <a:ext cx="5175250" cy="1103511"/>
          </a:xfrm>
          <a:prstGeom prst="roundRect">
            <a:avLst>
              <a:gd name="adj" fmla="val 8919"/>
            </a:avLst>
          </a:prstGeom>
          <a:solidFill>
            <a:srgbClr val="FFFBEB"/>
          </a:solidFill>
          <a:ln w="6350">
            <a:solidFill>
              <a:srgbClr val="F59E0B"/>
            </a:solidFill>
            <a:prstDash val="solid"/>
          </a:ln>
        </p:spPr>
      </p:sp>
      <p:sp>
        <p:nvSpPr>
          <p:cNvPr id="28" name="Text 21"/>
          <p:cNvSpPr/>
          <p:nvPr/>
        </p:nvSpPr>
        <p:spPr>
          <a:xfrm>
            <a:off x="1022350" y="3777853"/>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2400E"/>
                </a:solidFill>
                <a:latin typeface="Rubik" pitchFamily="34" charset="0"/>
                <a:ea typeface="Rubik" pitchFamily="34" charset="-122"/>
                <a:cs typeface="Rubik" pitchFamily="34" charset="-120"/>
              </a:rPr>
              <a:t>Not home? Failed attempt</a:t>
            </a:r>
            <a:endParaRPr lang="en-US" sz="1400" dirty="0"/>
          </a:p>
        </p:txBody>
      </p:sp>
      <p:sp>
        <p:nvSpPr>
          <p:cNvPr id="29" name="Text 22"/>
          <p:cNvSpPr/>
          <p:nvPr/>
        </p:nvSpPr>
        <p:spPr>
          <a:xfrm>
            <a:off x="1022350" y="4041973"/>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8350F"/>
                </a:solidFill>
                <a:latin typeface="Public Sans" pitchFamily="34" charset="0"/>
                <a:ea typeface="Public Sans" pitchFamily="34" charset="-122"/>
                <a:cs typeface="Public Sans" pitchFamily="34" charset="-120"/>
              </a:rPr>
              <a:t>The rider records a reason. The order is rescheduled to a rider again, or returned to the shop.</a:t>
            </a:r>
            <a:endParaRPr lang="en-US" sz="1200" dirty="0"/>
          </a:p>
        </p:txBody>
      </p:sp>
      <p:sp>
        <p:nvSpPr>
          <p:cNvPr id="30" name="Shape 23"/>
          <p:cNvSpPr/>
          <p:nvPr/>
        </p:nvSpPr>
        <p:spPr>
          <a:xfrm>
            <a:off x="6200775" y="3571478"/>
            <a:ext cx="5175250" cy="1103511"/>
          </a:xfrm>
          <a:prstGeom prst="roundRect">
            <a:avLst>
              <a:gd name="adj" fmla="val 8919"/>
            </a:avLst>
          </a:prstGeom>
          <a:solidFill>
            <a:srgbClr val="FFFFFF"/>
          </a:solidFill>
          <a:ln w="6350">
            <a:solidFill>
              <a:srgbClr val="E2E8F0"/>
            </a:solidFill>
            <a:prstDash val="solid"/>
          </a:ln>
        </p:spPr>
      </p:sp>
      <p:sp>
        <p:nvSpPr>
          <p:cNvPr id="31" name="Text 24"/>
          <p:cNvSpPr/>
          <p:nvPr/>
        </p:nvSpPr>
        <p:spPr>
          <a:xfrm>
            <a:off x="6407150" y="3777853"/>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72A"/>
                </a:solidFill>
                <a:latin typeface="Rubik" pitchFamily="34" charset="0"/>
                <a:ea typeface="Rubik" pitchFamily="34" charset="-122"/>
                <a:cs typeface="Rubik" pitchFamily="34" charset="-120"/>
              </a:rPr>
              <a:t>No shortcuts</a:t>
            </a:r>
            <a:endParaRPr lang="en-US" sz="1400" dirty="0"/>
          </a:p>
        </p:txBody>
      </p:sp>
      <p:sp>
        <p:nvSpPr>
          <p:cNvPr id="32" name="Text 25"/>
          <p:cNvSpPr/>
          <p:nvPr/>
        </p:nvSpPr>
        <p:spPr>
          <a:xfrm>
            <a:off x="6407150" y="4041973"/>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The server refuses any jump the path doesn’t allow, such as pending straight to delivered.</a:t>
            </a:r>
            <a:endParaRPr lang="en-US" sz="1200" dirty="0"/>
          </a:p>
        </p:txBody>
      </p:sp>
      <p:sp>
        <p:nvSpPr>
          <p:cNvPr id="33"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12800" y="208795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A8F0"/>
                </a:solidFill>
                <a:latin typeface="Public Sans" pitchFamily="34" charset="0"/>
                <a:ea typeface="Public Sans" pitchFamily="34" charset="-122"/>
                <a:cs typeface="Public Sans" pitchFamily="34" charset="-120"/>
              </a:rPr>
              <a:t>THE FRAUD CHECK</a:t>
            </a:r>
            <a:endParaRPr lang="en-US" sz="1200" dirty="0"/>
          </a:p>
        </p:txBody>
      </p:sp>
      <p:sp>
        <p:nvSpPr>
          <p:cNvPr id="3" name="Text 1"/>
          <p:cNvSpPr/>
          <p:nvPr>
            <p:ph type="title"/>
          </p:nvPr>
        </p:nvSpPr>
        <p:spPr>
          <a:xfrm>
            <a:off x="812800" y="2504480"/>
            <a:ext cx="512775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8FAFC"/>
                </a:solidFill>
                <a:latin typeface="Rubik" pitchFamily="34" charset="0"/>
                <a:ea typeface="Rubik" pitchFamily="34" charset="-122"/>
                <a:cs typeface="Rubik" pitchFamily="34" charset="-120"/>
              </a:rPr>
              <a:t>No code, no “delivered”</a:t>
            </a:r>
            <a:endParaRPr lang="en-US" sz="3600" dirty="0"/>
          </a:p>
        </p:txBody>
      </p:sp>
      <p:sp>
        <p:nvSpPr>
          <p:cNvPr id="4" name="Text 2"/>
          <p:cNvSpPr/>
          <p:nvPr/>
        </p:nvSpPr>
        <p:spPr>
          <a:xfrm>
            <a:off x="812800" y="3713361"/>
            <a:ext cx="512775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BD5E1"/>
                </a:solidFill>
                <a:latin typeface="Public Sans" pitchFamily="34" charset="0"/>
                <a:ea typeface="Public Sans" pitchFamily="34" charset="-122"/>
                <a:cs typeface="Public Sans" pitchFamily="34" charset="-120"/>
              </a:rPr>
              <a:t>A photo alone isn’t proof. A delivery only completes when the server checks the code the customer reads out.</a:t>
            </a:r>
            <a:endParaRPr lang="en-US" sz="1600" dirty="0"/>
          </a:p>
        </p:txBody>
      </p:sp>
      <p:sp>
        <p:nvSpPr>
          <p:cNvPr id="5" name="Shape 3"/>
          <p:cNvSpPr/>
          <p:nvPr/>
        </p:nvSpPr>
        <p:spPr>
          <a:xfrm>
            <a:off x="6400800" y="1554559"/>
            <a:ext cx="4978400" cy="746720"/>
          </a:xfrm>
          <a:prstGeom prst="roundRect">
            <a:avLst>
              <a:gd name="adj" fmla="val 13606"/>
            </a:avLst>
          </a:prstGeom>
          <a:solidFill>
            <a:srgbClr val="1E293B"/>
          </a:solidFill>
          <a:ln/>
        </p:spPr>
      </p:sp>
      <p:sp>
        <p:nvSpPr>
          <p:cNvPr id="6" name="Text 4"/>
          <p:cNvSpPr/>
          <p:nvPr/>
        </p:nvSpPr>
        <p:spPr>
          <a:xfrm>
            <a:off x="6604000" y="1732359"/>
            <a:ext cx="18970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A8F0"/>
                </a:solidFill>
                <a:latin typeface="Rubik" pitchFamily="34" charset="0"/>
                <a:ea typeface="Rubik" pitchFamily="34" charset="-122"/>
                <a:cs typeface="Rubik" pitchFamily="34" charset="-120"/>
              </a:rPr>
              <a:t>1</a:t>
            </a:r>
            <a:endParaRPr lang="en-US" sz="2200" dirty="0"/>
          </a:p>
        </p:txBody>
      </p:sp>
      <p:sp>
        <p:nvSpPr>
          <p:cNvPr id="7" name="Text 5"/>
          <p:cNvSpPr/>
          <p:nvPr/>
        </p:nvSpPr>
        <p:spPr>
          <a:xfrm>
            <a:off x="6895306" y="1807865"/>
            <a:ext cx="357449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AFC"/>
                </a:solidFill>
                <a:latin typeface="Public Sans" pitchFamily="34" charset="0"/>
                <a:ea typeface="Public Sans" pitchFamily="34" charset="-122"/>
                <a:cs typeface="Public Sans" pitchFamily="34" charset="-120"/>
              </a:rPr>
              <a:t>The rider arrives and asks for a code</a:t>
            </a:r>
            <a:endParaRPr lang="en-US" sz="1400" dirty="0"/>
          </a:p>
        </p:txBody>
      </p:sp>
      <p:sp>
        <p:nvSpPr>
          <p:cNvPr id="8" name="Shape 6"/>
          <p:cNvSpPr/>
          <p:nvPr/>
        </p:nvSpPr>
        <p:spPr>
          <a:xfrm>
            <a:off x="6400800" y="2428280"/>
            <a:ext cx="4978400" cy="835620"/>
          </a:xfrm>
          <a:prstGeom prst="roundRect">
            <a:avLst>
              <a:gd name="adj" fmla="val 12159"/>
            </a:avLst>
          </a:prstGeom>
          <a:solidFill>
            <a:srgbClr val="1E293B"/>
          </a:solidFill>
          <a:ln/>
        </p:spPr>
      </p:sp>
      <p:sp>
        <p:nvSpPr>
          <p:cNvPr id="9" name="Text 7"/>
          <p:cNvSpPr/>
          <p:nvPr/>
        </p:nvSpPr>
        <p:spPr>
          <a:xfrm>
            <a:off x="6604000" y="2650530"/>
            <a:ext cx="17512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A8F0"/>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6880721" y="2606080"/>
            <a:ext cx="44241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AFC"/>
                </a:solidFill>
                <a:latin typeface="Public Sans" pitchFamily="34" charset="0"/>
                <a:ea typeface="Public Sans" pitchFamily="34" charset="-122"/>
                <a:cs typeface="Public Sans" pitchFamily="34" charset="-120"/>
              </a:rPr>
              <a:t>The customer gets it on their tracking page or by text. The rider never sees it</a:t>
            </a:r>
            <a:endParaRPr lang="en-US" sz="1400" dirty="0"/>
          </a:p>
        </p:txBody>
      </p:sp>
      <p:sp>
        <p:nvSpPr>
          <p:cNvPr id="11" name="Shape 9"/>
          <p:cNvSpPr/>
          <p:nvPr/>
        </p:nvSpPr>
        <p:spPr>
          <a:xfrm>
            <a:off x="6400800" y="3390900"/>
            <a:ext cx="4978400" cy="746720"/>
          </a:xfrm>
          <a:prstGeom prst="roundRect">
            <a:avLst>
              <a:gd name="adj" fmla="val 13606"/>
            </a:avLst>
          </a:prstGeom>
          <a:solidFill>
            <a:srgbClr val="1E293B"/>
          </a:solidFill>
          <a:ln/>
        </p:spPr>
      </p:sp>
      <p:sp>
        <p:nvSpPr>
          <p:cNvPr id="12" name="Text 10"/>
          <p:cNvSpPr/>
          <p:nvPr/>
        </p:nvSpPr>
        <p:spPr>
          <a:xfrm>
            <a:off x="6604000" y="3568700"/>
            <a:ext cx="2349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A8F0"/>
                </a:solidFill>
                <a:latin typeface="Rubik" pitchFamily="34" charset="0"/>
                <a:ea typeface="Rubik" pitchFamily="34" charset="-122"/>
                <a:cs typeface="Rubik" pitchFamily="34" charset="-120"/>
              </a:rPr>
              <a:t>3</a:t>
            </a:r>
            <a:endParaRPr lang="en-US" sz="2200" dirty="0"/>
          </a:p>
        </p:txBody>
      </p:sp>
      <p:sp>
        <p:nvSpPr>
          <p:cNvPr id="13" name="Text 11"/>
          <p:cNvSpPr/>
          <p:nvPr/>
        </p:nvSpPr>
        <p:spPr>
          <a:xfrm>
            <a:off x="6940550" y="3644205"/>
            <a:ext cx="398752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AFC"/>
                </a:solidFill>
                <a:latin typeface="Public Sans" pitchFamily="34" charset="0"/>
                <a:ea typeface="Public Sans" pitchFamily="34" charset="-122"/>
                <a:cs typeface="Public Sans" pitchFamily="34" charset="-120"/>
              </a:rPr>
              <a:t>The rider types it in. The server checks it</a:t>
            </a:r>
            <a:endParaRPr lang="en-US" sz="1400" dirty="0"/>
          </a:p>
        </p:txBody>
      </p:sp>
      <p:sp>
        <p:nvSpPr>
          <p:cNvPr id="14" name="Shape 12"/>
          <p:cNvSpPr/>
          <p:nvPr/>
        </p:nvSpPr>
        <p:spPr>
          <a:xfrm>
            <a:off x="6400800" y="4264620"/>
            <a:ext cx="4978400" cy="835620"/>
          </a:xfrm>
          <a:prstGeom prst="roundRect">
            <a:avLst>
              <a:gd name="adj" fmla="val 12159"/>
            </a:avLst>
          </a:prstGeom>
          <a:solidFill>
            <a:srgbClr val="1E293B"/>
          </a:solidFill>
          <a:ln/>
        </p:spPr>
      </p:sp>
      <p:sp>
        <p:nvSpPr>
          <p:cNvPr id="15" name="Text 13"/>
          <p:cNvSpPr/>
          <p:nvPr/>
        </p:nvSpPr>
        <p:spPr>
          <a:xfrm>
            <a:off x="6604000" y="4486870"/>
            <a:ext cx="1973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A8F0"/>
                </a:solidFill>
                <a:latin typeface="Rubik" pitchFamily="34" charset="0"/>
                <a:ea typeface="Rubik" pitchFamily="34" charset="-122"/>
                <a:cs typeface="Rubik" pitchFamily="34" charset="-120"/>
              </a:rPr>
              <a:t>4</a:t>
            </a:r>
            <a:endParaRPr lang="en-US" sz="2200" dirty="0"/>
          </a:p>
        </p:txBody>
      </p:sp>
      <p:sp>
        <p:nvSpPr>
          <p:cNvPr id="16" name="Text 14"/>
          <p:cNvSpPr/>
          <p:nvPr/>
        </p:nvSpPr>
        <p:spPr>
          <a:xfrm>
            <a:off x="6902946" y="4442420"/>
            <a:ext cx="44012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AFC"/>
                </a:solidFill>
                <a:latin typeface="Public Sans" pitchFamily="34" charset="0"/>
                <a:ea typeface="Public Sans" pitchFamily="34" charset="-122"/>
                <a:cs typeface="Public Sans" pitchFamily="34" charset="-120"/>
              </a:rPr>
              <a:t>Stored scrambled, it expires, and wrong tries are limited and logged</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3B8"/>
                </a:solidFill>
                <a:latin typeface="Public Sans" pitchFamily="34" charset="0"/>
                <a:ea typeface="Public Sans" pitchFamily="34" charset="-122"/>
                <a:cs typeface="Public Sans" pitchFamily="34" charset="-120"/>
              </a:rPr>
              <a:t>RouteBridge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THE DRIVER APP</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Built for riders who lose signal</a:t>
            </a:r>
            <a:endParaRPr lang="en-US" sz="3600" dirty="0"/>
          </a:p>
        </p:txBody>
      </p:sp>
      <p:sp>
        <p:nvSpPr>
          <p:cNvPr id="4" name="Shape 2"/>
          <p:cNvSpPr/>
          <p:nvPr/>
        </p:nvSpPr>
        <p:spPr>
          <a:xfrm>
            <a:off x="815975" y="1989336"/>
            <a:ext cx="2482850" cy="2383532"/>
          </a:xfrm>
          <a:prstGeom prst="roundRect">
            <a:avLst>
              <a:gd name="adj" fmla="val 4129"/>
            </a:avLst>
          </a:prstGeom>
          <a:solidFill>
            <a:srgbClr val="FFFFFF"/>
          </a:solidFill>
          <a:ln w="6350">
            <a:solidFill>
              <a:srgbClr val="E2E8F0"/>
            </a:solidFill>
            <a:prstDash val="solid"/>
          </a:ln>
        </p:spPr>
      </p:sp>
      <p:pic>
        <p:nvPicPr>
          <p:cNvPr id="5" name="Image 0" descr="Link">    </p:cNvPr>
          <p:cNvPicPr>
            <a:picLocks noChangeAspect="1"/>
          </p:cNvPicPr>
          <p:nvPr/>
        </p:nvPicPr>
        <p:blipFill>
          <a:blip r:embed="rId1"/>
          <a:srcRect l="0" r="0" t="0" b="0"/>
          <a:stretch/>
        </p:blipFill>
        <p:spPr>
          <a:xfrm>
            <a:off x="1073150" y="2246511"/>
            <a:ext cx="355600" cy="355600"/>
          </a:xfrm>
          <a:prstGeom prst="rect">
            <a:avLst/>
          </a:prstGeom>
        </p:spPr>
      </p:pic>
      <p:sp>
        <p:nvSpPr>
          <p:cNvPr id="6" name="Text 3"/>
          <p:cNvSpPr/>
          <p:nvPr/>
        </p:nvSpPr>
        <p:spPr>
          <a:xfrm>
            <a:off x="10731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Install by link</a:t>
            </a:r>
            <a:endParaRPr lang="en-US" sz="1600" dirty="0"/>
          </a:p>
        </p:txBody>
      </p:sp>
      <p:sp>
        <p:nvSpPr>
          <p:cNvPr id="7" name="Text 4"/>
          <p:cNvSpPr/>
          <p:nvPr/>
        </p:nvSpPr>
        <p:spPr>
          <a:xfrm>
            <a:off x="1073150" y="3049091"/>
            <a:ext cx="202755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A web app that installs from a link. No app store, no updates to chase, runs on cheap Android phones.</a:t>
            </a:r>
            <a:endParaRPr lang="en-US" sz="1200" dirty="0"/>
          </a:p>
        </p:txBody>
      </p:sp>
      <p:sp>
        <p:nvSpPr>
          <p:cNvPr id="8" name="Shape 5"/>
          <p:cNvSpPr/>
          <p:nvPr/>
        </p:nvSpPr>
        <p:spPr>
          <a:xfrm>
            <a:off x="3508375" y="1989336"/>
            <a:ext cx="2482850" cy="2383532"/>
          </a:xfrm>
          <a:prstGeom prst="roundRect">
            <a:avLst>
              <a:gd name="adj" fmla="val 4129"/>
            </a:avLst>
          </a:prstGeom>
          <a:solidFill>
            <a:srgbClr val="FFFFFF"/>
          </a:solidFill>
          <a:ln w="6350">
            <a:solidFill>
              <a:srgbClr val="E2E8F0"/>
            </a:solidFill>
            <a:prstDash val="solid"/>
          </a:ln>
        </p:spPr>
      </p:sp>
      <p:pic>
        <p:nvPicPr>
          <p:cNvPr id="9" name="Image 1" descr="Database">    </p:cNvPr>
          <p:cNvPicPr>
            <a:picLocks noChangeAspect="1"/>
          </p:cNvPicPr>
          <p:nvPr/>
        </p:nvPicPr>
        <p:blipFill>
          <a:blip r:embed="rId2"/>
          <a:srcRect l="0" r="0" t="0" b="0"/>
          <a:stretch/>
        </p:blipFill>
        <p:spPr>
          <a:xfrm>
            <a:off x="3765550" y="2246511"/>
            <a:ext cx="355600" cy="355600"/>
          </a:xfrm>
          <a:prstGeom prst="rect">
            <a:avLst/>
          </a:prstGeom>
        </p:spPr>
      </p:pic>
      <p:sp>
        <p:nvSpPr>
          <p:cNvPr id="10" name="Text 6"/>
          <p:cNvSpPr/>
          <p:nvPr/>
        </p:nvSpPr>
        <p:spPr>
          <a:xfrm>
            <a:off x="37655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Works offline</a:t>
            </a:r>
            <a:endParaRPr lang="en-US" sz="1600" dirty="0"/>
          </a:p>
        </p:txBody>
      </p:sp>
      <p:sp>
        <p:nvSpPr>
          <p:cNvPr id="11" name="Text 7"/>
          <p:cNvSpPr/>
          <p:nvPr/>
        </p:nvSpPr>
        <p:spPr>
          <a:xfrm>
            <a:off x="3765550" y="3049091"/>
            <a:ext cx="2027555"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Every tap, photo, cash amount and location is saved on the phone first, then sent when signal returns.</a:t>
            </a:r>
            <a:endParaRPr lang="en-US" sz="1200" dirty="0"/>
          </a:p>
        </p:txBody>
      </p:sp>
      <p:sp>
        <p:nvSpPr>
          <p:cNvPr id="12" name="Shape 8"/>
          <p:cNvSpPr/>
          <p:nvPr/>
        </p:nvSpPr>
        <p:spPr>
          <a:xfrm>
            <a:off x="6200775" y="1989336"/>
            <a:ext cx="2482850" cy="2383532"/>
          </a:xfrm>
          <a:prstGeom prst="roundRect">
            <a:avLst>
              <a:gd name="adj" fmla="val 4129"/>
            </a:avLst>
          </a:prstGeom>
          <a:solidFill>
            <a:srgbClr val="FFFFFF"/>
          </a:solidFill>
          <a:ln w="6350">
            <a:solidFill>
              <a:srgbClr val="E2E8F0"/>
            </a:solidFill>
            <a:prstDash val="solid"/>
          </a:ln>
        </p:spPr>
      </p:sp>
      <p:pic>
        <p:nvPicPr>
          <p:cNvPr id="13" name="Image 2" descr="Clock">    </p:cNvPr>
          <p:cNvPicPr>
            <a:picLocks noChangeAspect="1"/>
          </p:cNvPicPr>
          <p:nvPr/>
        </p:nvPicPr>
        <p:blipFill>
          <a:blip r:embed="rId3"/>
          <a:srcRect l="0" r="0" t="0" b="0"/>
          <a:stretch/>
        </p:blipFill>
        <p:spPr>
          <a:xfrm>
            <a:off x="6457950" y="2246511"/>
            <a:ext cx="355600" cy="355600"/>
          </a:xfrm>
          <a:prstGeom prst="rect">
            <a:avLst/>
          </a:prstGeom>
        </p:spPr>
      </p:pic>
      <p:sp>
        <p:nvSpPr>
          <p:cNvPr id="14" name="Text 9"/>
          <p:cNvSpPr/>
          <p:nvPr/>
        </p:nvSpPr>
        <p:spPr>
          <a:xfrm>
            <a:off x="64579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Sent in order</a:t>
            </a:r>
            <a:endParaRPr lang="en-US" sz="1600" dirty="0"/>
          </a:p>
        </p:txBody>
      </p:sp>
      <p:sp>
        <p:nvSpPr>
          <p:cNvPr id="15" name="Text 10"/>
          <p:cNvSpPr/>
          <p:nvPr/>
        </p:nvSpPr>
        <p:spPr>
          <a:xfrm>
            <a:off x="6457950" y="3049091"/>
            <a:ext cx="202755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Events reach the server in the order they happened, so the strict order path always holds.</a:t>
            </a:r>
            <a:endParaRPr lang="en-US" sz="1200" dirty="0"/>
          </a:p>
        </p:txBody>
      </p:sp>
      <p:sp>
        <p:nvSpPr>
          <p:cNvPr id="16" name="Shape 11"/>
          <p:cNvSpPr/>
          <p:nvPr/>
        </p:nvSpPr>
        <p:spPr>
          <a:xfrm>
            <a:off x="8893175" y="1989336"/>
            <a:ext cx="2482850" cy="2383532"/>
          </a:xfrm>
          <a:prstGeom prst="roundRect">
            <a:avLst>
              <a:gd name="adj" fmla="val 4129"/>
            </a:avLst>
          </a:prstGeom>
          <a:solidFill>
            <a:srgbClr val="FFFFFF"/>
          </a:solidFill>
          <a:ln w="6350">
            <a:solidFill>
              <a:srgbClr val="E2E8F0"/>
            </a:solidFill>
            <a:prstDash val="solid"/>
          </a:ln>
        </p:spPr>
      </p:sp>
      <p:pic>
        <p:nvPicPr>
          <p:cNvPr id="17" name="Image 3" descr="Lock">    </p:cNvPr>
          <p:cNvPicPr>
            <a:picLocks noChangeAspect="1"/>
          </p:cNvPicPr>
          <p:nvPr/>
        </p:nvPicPr>
        <p:blipFill>
          <a:blip r:embed="rId4"/>
          <a:srcRect l="0" r="0" t="0" b="0"/>
          <a:stretch/>
        </p:blipFill>
        <p:spPr>
          <a:xfrm>
            <a:off x="9150350" y="2246511"/>
            <a:ext cx="355600" cy="355600"/>
          </a:xfrm>
          <a:prstGeom prst="rect">
            <a:avLst/>
          </a:prstGeom>
        </p:spPr>
      </p:pic>
      <p:sp>
        <p:nvSpPr>
          <p:cNvPr id="18" name="Text 12"/>
          <p:cNvSpPr/>
          <p:nvPr/>
        </p:nvSpPr>
        <p:spPr>
          <a:xfrm>
            <a:off x="9150350" y="2703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Encrypted</a:t>
            </a:r>
            <a:endParaRPr lang="en-US" sz="1600" dirty="0"/>
          </a:p>
        </p:txBody>
      </p:sp>
      <p:sp>
        <p:nvSpPr>
          <p:cNvPr id="19" name="Text 13"/>
          <p:cNvSpPr/>
          <p:nvPr/>
        </p:nvSpPr>
        <p:spPr>
          <a:xfrm>
            <a:off x="9150350" y="3049091"/>
            <a:ext cx="202755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Saved data is locked with a key that never leaves the phone. A lost phone leaks nothing.</a:t>
            </a:r>
            <a:endParaRPr lang="en-US" sz="12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CLOSING THE LOOP ON CASH</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Every shop gets a clear statement</a:t>
            </a:r>
            <a:endParaRPr lang="en-US" sz="3600" dirty="0"/>
          </a:p>
        </p:txBody>
      </p:sp>
      <p:sp>
        <p:nvSpPr>
          <p:cNvPr id="4" name="Shape 2"/>
          <p:cNvSpPr/>
          <p:nvPr/>
        </p:nvSpPr>
        <p:spPr>
          <a:xfrm>
            <a:off x="815975" y="1938536"/>
            <a:ext cx="10560050" cy="905470"/>
          </a:xfrm>
          <a:prstGeom prst="roundRect">
            <a:avLst>
              <a:gd name="adj" fmla="val 10870"/>
            </a:avLst>
          </a:prstGeom>
          <a:solidFill>
            <a:srgbClr val="FFFFFF"/>
          </a:solidFill>
          <a:ln w="6350">
            <a:solidFill>
              <a:srgbClr val="E2E8F0"/>
            </a:solidFill>
            <a:prstDash val="solid"/>
          </a:ln>
        </p:spPr>
      </p:sp>
      <p:sp>
        <p:nvSpPr>
          <p:cNvPr id="5" name="Text 3"/>
          <p:cNvSpPr/>
          <p:nvPr/>
        </p:nvSpPr>
        <p:spPr>
          <a:xfrm>
            <a:off x="2538710" y="2195711"/>
            <a:ext cx="219680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803D"/>
                </a:solidFill>
                <a:latin typeface="Rubik" pitchFamily="34" charset="0"/>
                <a:ea typeface="Rubik" pitchFamily="34" charset="-122"/>
                <a:cs typeface="Rubik" pitchFamily="34" charset="-120"/>
              </a:rPr>
              <a:t>Cash collected</a:t>
            </a:r>
            <a:endParaRPr lang="en-US" sz="2200" dirty="0"/>
          </a:p>
        </p:txBody>
      </p:sp>
      <p:sp>
        <p:nvSpPr>
          <p:cNvPr id="6" name="Text 4"/>
          <p:cNvSpPr/>
          <p:nvPr/>
        </p:nvSpPr>
        <p:spPr>
          <a:xfrm>
            <a:off x="4735513" y="2195711"/>
            <a:ext cx="23137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4748B"/>
                </a:solidFill>
                <a:latin typeface="Rubik" pitchFamily="34" charset="0"/>
                <a:ea typeface="Rubik" pitchFamily="34" charset="-122"/>
                <a:cs typeface="Rubik" pitchFamily="34" charset="-120"/>
              </a:rPr>
              <a:t>−</a:t>
            </a:r>
            <a:endParaRPr lang="en-US" sz="2200" dirty="0"/>
          </a:p>
        </p:txBody>
      </p:sp>
      <p:sp>
        <p:nvSpPr>
          <p:cNvPr id="7" name="Text 5"/>
          <p:cNvSpPr/>
          <p:nvPr/>
        </p:nvSpPr>
        <p:spPr>
          <a:xfrm>
            <a:off x="5093891" y="2195711"/>
            <a:ext cx="19444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172A"/>
                </a:solidFill>
                <a:latin typeface="Rubik" pitchFamily="34" charset="0"/>
                <a:ea typeface="Rubik" pitchFamily="34" charset="-122"/>
                <a:cs typeface="Rubik" pitchFamily="34" charset="-120"/>
              </a:rPr>
              <a:t>Delivery fees</a:t>
            </a:r>
            <a:endParaRPr lang="en-US" sz="2200" dirty="0"/>
          </a:p>
        </p:txBody>
      </p:sp>
      <p:sp>
        <p:nvSpPr>
          <p:cNvPr id="8" name="Text 6"/>
          <p:cNvSpPr/>
          <p:nvPr/>
        </p:nvSpPr>
        <p:spPr>
          <a:xfrm>
            <a:off x="7038380" y="2195711"/>
            <a:ext cx="22155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4748B"/>
                </a:solidFill>
                <a:latin typeface="Rubik" pitchFamily="34" charset="0"/>
                <a:ea typeface="Rubik" pitchFamily="34" charset="-122"/>
                <a:cs typeface="Rubik" pitchFamily="34" charset="-120"/>
              </a:rPr>
              <a:t>+</a:t>
            </a:r>
            <a:endParaRPr lang="en-US" sz="2200" dirty="0"/>
          </a:p>
        </p:txBody>
      </p:sp>
      <p:sp>
        <p:nvSpPr>
          <p:cNvPr id="9" name="Text 7"/>
          <p:cNvSpPr/>
          <p:nvPr/>
        </p:nvSpPr>
        <p:spPr>
          <a:xfrm>
            <a:off x="7386935" y="2195711"/>
            <a:ext cx="271950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46D1"/>
                </a:solidFill>
                <a:latin typeface="Rubik" pitchFamily="34" charset="0"/>
                <a:ea typeface="Rubik" pitchFamily="34" charset="-122"/>
                <a:cs typeface="Rubik" pitchFamily="34" charset="-120"/>
              </a:rPr>
              <a:t>Approved claims</a:t>
            </a:r>
            <a:endParaRPr lang="en-US" sz="2200" dirty="0"/>
          </a:p>
        </p:txBody>
      </p:sp>
      <p:sp>
        <p:nvSpPr>
          <p:cNvPr id="10" name="Shape 8"/>
          <p:cNvSpPr/>
          <p:nvPr/>
        </p:nvSpPr>
        <p:spPr>
          <a:xfrm>
            <a:off x="815975" y="3155156"/>
            <a:ext cx="3380284" cy="1474291"/>
          </a:xfrm>
          <a:prstGeom prst="roundRect">
            <a:avLst>
              <a:gd name="adj" fmla="val 6676"/>
            </a:avLst>
          </a:prstGeom>
          <a:solidFill>
            <a:srgbClr val="FFFFFF"/>
          </a:solidFill>
          <a:ln w="6350">
            <a:solidFill>
              <a:srgbClr val="E2E8F0"/>
            </a:solidFill>
            <a:prstDash val="solid"/>
          </a:ln>
        </p:spPr>
      </p:sp>
      <p:sp>
        <p:nvSpPr>
          <p:cNvPr id="11" name="Text 9"/>
          <p:cNvSpPr/>
          <p:nvPr/>
        </p:nvSpPr>
        <p:spPr>
          <a:xfrm>
            <a:off x="1073150" y="3412331"/>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Cash on delivery</a:t>
            </a:r>
            <a:endParaRPr lang="en-US" sz="1600" dirty="0"/>
          </a:p>
        </p:txBody>
      </p:sp>
      <p:sp>
        <p:nvSpPr>
          <p:cNvPr id="12" name="Text 10"/>
          <p:cNvSpPr/>
          <p:nvPr/>
        </p:nvSpPr>
        <p:spPr>
          <a:xfrm>
            <a:off x="1073150" y="3732312"/>
            <a:ext cx="295191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The rider records the amount at the door. Fees come from each zone’s rate card.</a:t>
            </a:r>
            <a:endParaRPr lang="en-US" sz="1200" dirty="0"/>
          </a:p>
        </p:txBody>
      </p:sp>
      <p:sp>
        <p:nvSpPr>
          <p:cNvPr id="13" name="Shape 11"/>
          <p:cNvSpPr/>
          <p:nvPr/>
        </p:nvSpPr>
        <p:spPr>
          <a:xfrm>
            <a:off x="4405809" y="3155156"/>
            <a:ext cx="3380383" cy="1474291"/>
          </a:xfrm>
          <a:prstGeom prst="roundRect">
            <a:avLst>
              <a:gd name="adj" fmla="val 6676"/>
            </a:avLst>
          </a:prstGeom>
          <a:solidFill>
            <a:srgbClr val="FFFFFF"/>
          </a:solidFill>
          <a:ln w="6350">
            <a:solidFill>
              <a:srgbClr val="E2E8F0"/>
            </a:solidFill>
            <a:prstDash val="solid"/>
          </a:ln>
        </p:spPr>
      </p:sp>
      <p:sp>
        <p:nvSpPr>
          <p:cNvPr id="14" name="Text 12"/>
          <p:cNvSpPr/>
          <p:nvPr/>
        </p:nvSpPr>
        <p:spPr>
          <a:xfrm>
            <a:off x="4662984" y="3412331"/>
            <a:ext cx="29520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Reconciliation</a:t>
            </a:r>
            <a:endParaRPr lang="en-US" sz="1600" dirty="0"/>
          </a:p>
        </p:txBody>
      </p:sp>
      <p:sp>
        <p:nvSpPr>
          <p:cNvPr id="15" name="Text 13"/>
          <p:cNvSpPr/>
          <p:nvPr/>
        </p:nvSpPr>
        <p:spPr>
          <a:xfrm>
            <a:off x="4662984" y="3732312"/>
            <a:ext cx="29520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Import the bank statement. Any gap between expected and collected cash is flagged.</a:t>
            </a:r>
            <a:endParaRPr lang="en-US" sz="1200" dirty="0"/>
          </a:p>
        </p:txBody>
      </p:sp>
      <p:sp>
        <p:nvSpPr>
          <p:cNvPr id="16" name="Shape 14"/>
          <p:cNvSpPr/>
          <p:nvPr/>
        </p:nvSpPr>
        <p:spPr>
          <a:xfrm>
            <a:off x="7995741" y="3155156"/>
            <a:ext cx="3380284" cy="1474291"/>
          </a:xfrm>
          <a:prstGeom prst="roundRect">
            <a:avLst>
              <a:gd name="adj" fmla="val 6676"/>
            </a:avLst>
          </a:prstGeom>
          <a:solidFill>
            <a:srgbClr val="FFFFFF"/>
          </a:solidFill>
          <a:ln w="6350">
            <a:solidFill>
              <a:srgbClr val="E2E8F0"/>
            </a:solidFill>
            <a:prstDash val="solid"/>
          </a:ln>
        </p:spPr>
      </p:sp>
      <p:sp>
        <p:nvSpPr>
          <p:cNvPr id="17" name="Text 15"/>
          <p:cNvSpPr/>
          <p:nvPr/>
        </p:nvSpPr>
        <p:spPr>
          <a:xfrm>
            <a:off x="8252916" y="3412331"/>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Claims</a:t>
            </a:r>
            <a:endParaRPr lang="en-US" sz="1600" dirty="0"/>
          </a:p>
        </p:txBody>
      </p:sp>
      <p:sp>
        <p:nvSpPr>
          <p:cNvPr id="18" name="Text 16"/>
          <p:cNvSpPr/>
          <p:nvPr/>
        </p:nvSpPr>
        <p:spPr>
          <a:xfrm>
            <a:off x="8252916" y="3732312"/>
            <a:ext cx="295191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Open, investigating, approved or rejected, then paid. A rejection always gives the shop a reason.</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BUSINESS MODEL</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Each shop pays for its own plan</a:t>
            </a:r>
            <a:endParaRPr lang="en-US" sz="3600" dirty="0"/>
          </a:p>
        </p:txBody>
      </p:sp>
      <p:sp>
        <p:nvSpPr>
          <p:cNvPr id="4" name="Shape 2"/>
          <p:cNvSpPr/>
          <p:nvPr/>
        </p:nvSpPr>
        <p:spPr>
          <a:xfrm>
            <a:off x="815975" y="1938536"/>
            <a:ext cx="2482850" cy="1728291"/>
          </a:xfrm>
          <a:prstGeom prst="roundRect">
            <a:avLst>
              <a:gd name="adj" fmla="val 5695"/>
            </a:avLst>
          </a:prstGeom>
          <a:solidFill>
            <a:srgbClr val="FFFFFF"/>
          </a:solidFill>
          <a:ln w="6350">
            <a:solidFill>
              <a:srgbClr val="E2E8F0"/>
            </a:solidFill>
            <a:prstDash val="solid"/>
          </a:ln>
        </p:spPr>
      </p:sp>
      <p:sp>
        <p:nvSpPr>
          <p:cNvPr id="5" name="Text 3"/>
          <p:cNvSpPr/>
          <p:nvPr/>
        </p:nvSpPr>
        <p:spPr>
          <a:xfrm>
            <a:off x="1073150" y="2195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Free trial</a:t>
            </a:r>
            <a:endParaRPr lang="en-US" sz="1600" dirty="0"/>
          </a:p>
        </p:txBody>
      </p:sp>
      <p:sp>
        <p:nvSpPr>
          <p:cNvPr id="6" name="Text 4"/>
          <p:cNvSpPr/>
          <p:nvPr/>
        </p:nvSpPr>
        <p:spPr>
          <a:xfrm>
            <a:off x="1073150" y="2515691"/>
            <a:ext cx="202755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46D1"/>
                </a:solidFill>
                <a:latin typeface="Rubik" pitchFamily="34" charset="0"/>
                <a:ea typeface="Rubik" pitchFamily="34" charset="-122"/>
                <a:cs typeface="Rubik" pitchFamily="34" charset="-120"/>
              </a:rPr>
              <a:t>14 days</a:t>
            </a:r>
            <a:endParaRPr lang="en-US" sz="2200" dirty="0"/>
          </a:p>
        </p:txBody>
      </p:sp>
      <p:sp>
        <p:nvSpPr>
          <p:cNvPr id="7" name="Text 5"/>
          <p:cNvSpPr/>
          <p:nvPr/>
        </p:nvSpPr>
        <p:spPr>
          <a:xfrm>
            <a:off x="1073150" y="2983012"/>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Starts with the shop’s first order</a:t>
            </a:r>
            <a:endParaRPr lang="en-US" sz="1200" dirty="0"/>
          </a:p>
        </p:txBody>
      </p:sp>
      <p:sp>
        <p:nvSpPr>
          <p:cNvPr id="8" name="Shape 6"/>
          <p:cNvSpPr/>
          <p:nvPr/>
        </p:nvSpPr>
        <p:spPr>
          <a:xfrm>
            <a:off x="3508375" y="1938536"/>
            <a:ext cx="2482850" cy="1728291"/>
          </a:xfrm>
          <a:prstGeom prst="roundRect">
            <a:avLst>
              <a:gd name="adj" fmla="val 5695"/>
            </a:avLst>
          </a:prstGeom>
          <a:solidFill>
            <a:srgbClr val="FFFFFF"/>
          </a:solidFill>
          <a:ln w="6350">
            <a:solidFill>
              <a:srgbClr val="E2E8F0"/>
            </a:solidFill>
            <a:prstDash val="solid"/>
          </a:ln>
        </p:spPr>
      </p:sp>
      <p:sp>
        <p:nvSpPr>
          <p:cNvPr id="9" name="Text 7"/>
          <p:cNvSpPr/>
          <p:nvPr/>
        </p:nvSpPr>
        <p:spPr>
          <a:xfrm>
            <a:off x="3765550" y="2195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Basic</a:t>
            </a:r>
            <a:endParaRPr lang="en-US" sz="1600" dirty="0"/>
          </a:p>
        </p:txBody>
      </p:sp>
      <p:sp>
        <p:nvSpPr>
          <p:cNvPr id="10" name="Text 8"/>
          <p:cNvSpPr/>
          <p:nvPr/>
        </p:nvSpPr>
        <p:spPr>
          <a:xfrm>
            <a:off x="3765550" y="2515691"/>
            <a:ext cx="202755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46D1"/>
                </a:solidFill>
                <a:latin typeface="Rubik" pitchFamily="34" charset="0"/>
                <a:ea typeface="Rubik" pitchFamily="34" charset="-122"/>
                <a:cs typeface="Rubik" pitchFamily="34" charset="-120"/>
              </a:rPr>
              <a:t>[₦__]</a:t>
            </a:r>
            <a:endParaRPr lang="en-US" sz="2200" dirty="0"/>
          </a:p>
        </p:txBody>
      </p:sp>
      <p:sp>
        <p:nvSpPr>
          <p:cNvPr id="11" name="Text 9"/>
          <p:cNvSpPr/>
          <p:nvPr/>
        </p:nvSpPr>
        <p:spPr>
          <a:xfrm>
            <a:off x="3765550" y="298301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per month</a:t>
            </a:r>
            <a:endParaRPr lang="en-US" sz="1200" dirty="0"/>
          </a:p>
        </p:txBody>
      </p:sp>
      <p:sp>
        <p:nvSpPr>
          <p:cNvPr id="12" name="Shape 10"/>
          <p:cNvSpPr/>
          <p:nvPr/>
        </p:nvSpPr>
        <p:spPr>
          <a:xfrm>
            <a:off x="6200775" y="1938536"/>
            <a:ext cx="2482850" cy="1728291"/>
          </a:xfrm>
          <a:prstGeom prst="roundRect">
            <a:avLst>
              <a:gd name="adj" fmla="val 5695"/>
            </a:avLst>
          </a:prstGeom>
          <a:solidFill>
            <a:srgbClr val="FFFFFF"/>
          </a:solidFill>
          <a:ln w="6350">
            <a:solidFill>
              <a:srgbClr val="E2E8F0"/>
            </a:solidFill>
            <a:prstDash val="solid"/>
          </a:ln>
        </p:spPr>
      </p:sp>
      <p:sp>
        <p:nvSpPr>
          <p:cNvPr id="13" name="Text 11"/>
          <p:cNvSpPr/>
          <p:nvPr/>
        </p:nvSpPr>
        <p:spPr>
          <a:xfrm>
            <a:off x="6457950" y="2195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Standard</a:t>
            </a:r>
            <a:endParaRPr lang="en-US" sz="1600" dirty="0"/>
          </a:p>
        </p:txBody>
      </p:sp>
      <p:sp>
        <p:nvSpPr>
          <p:cNvPr id="14" name="Text 12"/>
          <p:cNvSpPr/>
          <p:nvPr/>
        </p:nvSpPr>
        <p:spPr>
          <a:xfrm>
            <a:off x="6457950" y="2515691"/>
            <a:ext cx="202755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46D1"/>
                </a:solidFill>
                <a:latin typeface="Rubik" pitchFamily="34" charset="0"/>
                <a:ea typeface="Rubik" pitchFamily="34" charset="-122"/>
                <a:cs typeface="Rubik" pitchFamily="34" charset="-120"/>
              </a:rPr>
              <a:t>[₦__]</a:t>
            </a:r>
            <a:endParaRPr lang="en-US" sz="2200" dirty="0"/>
          </a:p>
        </p:txBody>
      </p:sp>
      <p:sp>
        <p:nvSpPr>
          <p:cNvPr id="15" name="Text 13"/>
          <p:cNvSpPr/>
          <p:nvPr/>
        </p:nvSpPr>
        <p:spPr>
          <a:xfrm>
            <a:off x="6457950" y="298301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per month</a:t>
            </a:r>
            <a:endParaRPr lang="en-US" sz="1200" dirty="0"/>
          </a:p>
        </p:txBody>
      </p:sp>
      <p:sp>
        <p:nvSpPr>
          <p:cNvPr id="16" name="Shape 14"/>
          <p:cNvSpPr/>
          <p:nvPr/>
        </p:nvSpPr>
        <p:spPr>
          <a:xfrm>
            <a:off x="8893175" y="1938536"/>
            <a:ext cx="2482850" cy="1728291"/>
          </a:xfrm>
          <a:prstGeom prst="roundRect">
            <a:avLst>
              <a:gd name="adj" fmla="val 5695"/>
            </a:avLst>
          </a:prstGeom>
          <a:solidFill>
            <a:srgbClr val="FFFFFF"/>
          </a:solidFill>
          <a:ln w="6350">
            <a:solidFill>
              <a:srgbClr val="E2E8F0"/>
            </a:solidFill>
            <a:prstDash val="solid"/>
          </a:ln>
        </p:spPr>
      </p:sp>
      <p:sp>
        <p:nvSpPr>
          <p:cNvPr id="17" name="Text 15"/>
          <p:cNvSpPr/>
          <p:nvPr/>
        </p:nvSpPr>
        <p:spPr>
          <a:xfrm>
            <a:off x="9150350" y="2195711"/>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A"/>
                </a:solidFill>
                <a:latin typeface="Rubik" pitchFamily="34" charset="0"/>
                <a:ea typeface="Rubik" pitchFamily="34" charset="-122"/>
                <a:cs typeface="Rubik" pitchFamily="34" charset="-120"/>
              </a:rPr>
              <a:t>Pro</a:t>
            </a:r>
            <a:endParaRPr lang="en-US" sz="1600" dirty="0"/>
          </a:p>
        </p:txBody>
      </p:sp>
      <p:sp>
        <p:nvSpPr>
          <p:cNvPr id="18" name="Text 16"/>
          <p:cNvSpPr/>
          <p:nvPr/>
        </p:nvSpPr>
        <p:spPr>
          <a:xfrm>
            <a:off x="9150350" y="2515691"/>
            <a:ext cx="202755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46D1"/>
                </a:solidFill>
                <a:latin typeface="Rubik" pitchFamily="34" charset="0"/>
                <a:ea typeface="Rubik" pitchFamily="34" charset="-122"/>
                <a:cs typeface="Rubik" pitchFamily="34" charset="-120"/>
              </a:rPr>
              <a:t>[₦__]</a:t>
            </a:r>
            <a:endParaRPr lang="en-US" sz="2200" dirty="0"/>
          </a:p>
        </p:txBody>
      </p:sp>
      <p:sp>
        <p:nvSpPr>
          <p:cNvPr id="19" name="Text 17"/>
          <p:cNvSpPr/>
          <p:nvPr/>
        </p:nvSpPr>
        <p:spPr>
          <a:xfrm>
            <a:off x="9150350" y="298301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Public Sans" pitchFamily="34" charset="0"/>
                <a:ea typeface="Public Sans" pitchFamily="34" charset="-122"/>
                <a:cs typeface="Public Sans" pitchFamily="34" charset="-120"/>
              </a:rPr>
              <a:t>per month</a:t>
            </a:r>
            <a:endParaRPr lang="en-US" sz="1200" dirty="0"/>
          </a:p>
        </p:txBody>
      </p:sp>
      <p:sp>
        <p:nvSpPr>
          <p:cNvPr id="20" name="Shape 18"/>
          <p:cNvSpPr/>
          <p:nvPr/>
        </p:nvSpPr>
        <p:spPr>
          <a:xfrm>
            <a:off x="812800" y="3974802"/>
            <a:ext cx="5181600" cy="886420"/>
          </a:xfrm>
          <a:prstGeom prst="roundRect">
            <a:avLst>
              <a:gd name="adj" fmla="val 11462"/>
            </a:avLst>
          </a:prstGeom>
          <a:solidFill>
            <a:srgbClr val="EEF2FD"/>
          </a:solidFill>
          <a:ln/>
        </p:spPr>
      </p:sp>
      <p:pic>
        <p:nvPicPr>
          <p:cNvPr id="21" name="Image 0" descr="Key">    </p:cNvPr>
          <p:cNvPicPr>
            <a:picLocks noChangeAspect="1"/>
          </p:cNvPicPr>
          <p:nvPr/>
        </p:nvPicPr>
        <p:blipFill>
          <a:blip r:embed="rId1"/>
          <a:srcRect l="0" r="0" t="-214" b="-214"/>
          <a:stretch/>
        </p:blipFill>
        <p:spPr>
          <a:xfrm>
            <a:off x="1066800" y="4265613"/>
            <a:ext cx="278209" cy="304800"/>
          </a:xfrm>
          <a:prstGeom prst="rect">
            <a:avLst/>
          </a:prstGeom>
        </p:spPr>
      </p:pic>
      <p:sp>
        <p:nvSpPr>
          <p:cNvPr id="22" name="Text 19"/>
          <p:cNvSpPr/>
          <p:nvPr/>
        </p:nvSpPr>
        <p:spPr>
          <a:xfrm>
            <a:off x="1472009" y="4178002"/>
            <a:ext cx="439644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72A"/>
                </a:solidFill>
                <a:latin typeface="Public Sans" pitchFamily="34" charset="0"/>
                <a:ea typeface="Public Sans" pitchFamily="34" charset="-122"/>
                <a:cs typeface="Public Sans" pitchFamily="34" charset="-120"/>
              </a:rPr>
              <a:t>Paid online through </a:t>
            </a:r>
            <a:r>
              <a:rPr lang="en-US" sz="1400" b="1" dirty="0">
                <a:solidFill>
                  <a:srgbClr val="0F172A"/>
                </a:solidFill>
                <a:latin typeface="Public Sans" pitchFamily="34" charset="0"/>
                <a:ea typeface="Public Sans" pitchFamily="34" charset="-122"/>
                <a:cs typeface="Public Sans" pitchFamily="34" charset="-120"/>
              </a:rPr>
              <a:t>Paystack</a:t>
            </a:r>
            <a:r>
              <a:rPr lang="en-US" sz="1400" dirty="0">
                <a:solidFill>
                  <a:srgbClr val="0F172A"/>
                </a:solidFill>
                <a:latin typeface="Public Sans" pitchFamily="34" charset="0"/>
                <a:ea typeface="Public Sans" pitchFamily="34" charset="-122"/>
                <a:cs typeface="Public Sans" pitchFamily="34" charset="-120"/>
              </a:rPr>
              <a:t>, from the shop’s own portal</a:t>
            </a:r>
            <a:endParaRPr lang="en-US" sz="1400" dirty="0"/>
          </a:p>
        </p:txBody>
      </p:sp>
      <p:sp>
        <p:nvSpPr>
          <p:cNvPr id="23" name="Shape 20"/>
          <p:cNvSpPr/>
          <p:nvPr/>
        </p:nvSpPr>
        <p:spPr>
          <a:xfrm>
            <a:off x="6197600" y="3974802"/>
            <a:ext cx="5181600" cy="886420"/>
          </a:xfrm>
          <a:prstGeom prst="roundRect">
            <a:avLst>
              <a:gd name="adj" fmla="val 11462"/>
            </a:avLst>
          </a:prstGeom>
          <a:solidFill>
            <a:srgbClr val="EEF2FD"/>
          </a:solidFill>
          <a:ln/>
        </p:spPr>
      </p:sp>
      <p:pic>
        <p:nvPicPr>
          <p:cNvPr id="24" name="Image 1" descr="Trust">    </p:cNvPr>
          <p:cNvPicPr>
            <a:picLocks noChangeAspect="1"/>
          </p:cNvPicPr>
          <p:nvPr/>
        </p:nvPicPr>
        <p:blipFill>
          <a:blip r:embed="rId2"/>
          <a:srcRect l="-46" r="-46" t="0" b="0"/>
          <a:stretch/>
        </p:blipFill>
        <p:spPr>
          <a:xfrm>
            <a:off x="6451600" y="4265613"/>
            <a:ext cx="216098" cy="304800"/>
          </a:xfrm>
          <a:prstGeom prst="rect">
            <a:avLst/>
          </a:prstGeom>
        </p:spPr>
      </p:pic>
      <p:sp>
        <p:nvSpPr>
          <p:cNvPr id="25" name="Text 21"/>
          <p:cNvSpPr/>
          <p:nvPr/>
        </p:nvSpPr>
        <p:spPr>
          <a:xfrm>
            <a:off x="6794698" y="4178002"/>
            <a:ext cx="446041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72A"/>
                </a:solidFill>
                <a:latin typeface="Public Sans" pitchFamily="34" charset="0"/>
                <a:ea typeface="Public Sans" pitchFamily="34" charset="-122"/>
                <a:cs typeface="Public Sans" pitchFamily="34" charset="-120"/>
              </a:rPr>
              <a:t>Unpaid plan blocks </a:t>
            </a:r>
            <a:r>
              <a:rPr lang="en-US" sz="1400" b="1" dirty="0">
                <a:solidFill>
                  <a:srgbClr val="0F172A"/>
                </a:solidFill>
                <a:latin typeface="Public Sans" pitchFamily="34" charset="0"/>
                <a:ea typeface="Public Sans" pitchFamily="34" charset="-122"/>
                <a:cs typeface="Public Sans" pitchFamily="34" charset="-120"/>
              </a:rPr>
              <a:t>new</a:t>
            </a:r>
            <a:r>
              <a:rPr lang="en-US" sz="1400" dirty="0">
                <a:solidFill>
                  <a:srgbClr val="0F172A"/>
                </a:solidFill>
                <a:latin typeface="Public Sans" pitchFamily="34" charset="0"/>
                <a:ea typeface="Public Sans" pitchFamily="34" charset="-122"/>
                <a:cs typeface="Public Sans" pitchFamily="34" charset="-120"/>
              </a:rPr>
              <a:t> orders only. Parcels on the road are never stopped</a:t>
            </a:r>
            <a:endParaRPr lang="en-US" sz="1400" dirty="0"/>
          </a:p>
        </p:txBody>
      </p:sp>
      <p:sp>
        <p:nvSpPr>
          <p:cNvPr id="26"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HOW IT’S BUILT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Each tool was picked for a reason</a:t>
            </a:r>
            <a:endParaRPr lang="en-US" sz="3600" dirty="0"/>
          </a:p>
        </p:txBody>
      </p:sp>
      <p:sp>
        <p:nvSpPr>
          <p:cNvPr id="4" name="Shape 2"/>
          <p:cNvSpPr/>
          <p:nvPr/>
        </p:nvSpPr>
        <p:spPr>
          <a:xfrm>
            <a:off x="812800" y="1884561"/>
            <a:ext cx="10566400" cy="3611761"/>
          </a:xfrm>
          <a:prstGeom prst="roundRect">
            <a:avLst>
              <a:gd name="adj" fmla="val 2813"/>
            </a:avLst>
          </a:prstGeom>
          <a:solidFill>
            <a:srgbClr val="FFFFFF"/>
          </a:solidFill>
          <a:ln/>
        </p:spPr>
      </p:sp>
      <p:sp>
        <p:nvSpPr>
          <p:cNvPr id="5" name="Shape 3"/>
          <p:cNvSpPr/>
          <p:nvPr/>
        </p:nvSpPr>
        <p:spPr>
          <a:xfrm>
            <a:off x="812800" y="1884561"/>
            <a:ext cx="10566400" cy="3611761"/>
          </a:xfrm>
          <a:custGeom>
            <a:avLst/>
            <a:gdLst/>
            <a:ahLst/>
            <a:cxnLst/>
            <a:rect l="l" t="t" r="r" b="b"/>
            <a:pathLst>
              <a:path w="10566400" h="3611761">
                <a:moveTo>
                  <a:pt x="10464800" y="0"/>
                </a:moveTo>
                <a:lnTo>
                  <a:pt x="10464800" y="0"/>
                </a:lnTo>
                <a:arcTo hR="101600" wR="101600" stAng="16200000" swAng="5400000"/>
                <a:lnTo>
                  <a:pt x="10566400" y="3510161"/>
                </a:lnTo>
                <a:arcTo hR="101600" wR="101600" stAng="0" swAng="5400000"/>
                <a:lnTo>
                  <a:pt x="101600" y="3611761"/>
                </a:lnTo>
                <a:arcTo hR="101600" wR="101600" stAng="5400000" swAng="5400000"/>
                <a:lnTo>
                  <a:pt x="0" y="3510161"/>
                </a:lnTo>
                <a:arcTo hR="95250" wR="101600" stAng="10800000" swAng="-5400000"/>
                <a:lnTo>
                  <a:pt x="10464800" y="3605411"/>
                </a:lnTo>
                <a:arcTo hR="95250" wR="95250" stAng="5400000" swAng="-5400000"/>
                <a:lnTo>
                  <a:pt x="10560050" y="101600"/>
                </a:lnTo>
                <a:arcTo hR="101600" wR="95250" stAng="0" swAng="-5400000"/>
                <a:close/>
              </a:path>
            </a:pathLst>
          </a:custGeom>
          <a:solidFill>
            <a:srgbClr val="E2E8F0"/>
          </a:solidFill>
          <a:ln/>
        </p:spPr>
      </p:sp>
      <p:sp>
        <p:nvSpPr>
          <p:cNvPr id="6" name="Shape 4"/>
          <p:cNvSpPr/>
          <p:nvPr/>
        </p:nvSpPr>
        <p:spPr>
          <a:xfrm>
            <a:off x="812800" y="1884561"/>
            <a:ext cx="10566400" cy="3611761"/>
          </a:xfrm>
          <a:custGeom>
            <a:avLst/>
            <a:gdLst/>
            <a:ahLst/>
            <a:cxnLst/>
            <a:rect l="l" t="t" r="r" b="b"/>
            <a:pathLst>
              <a:path w="10566400" h="3611761">
                <a:moveTo>
                  <a:pt x="101600" y="3611761"/>
                </a:moveTo>
                <a:lnTo>
                  <a:pt x="101600" y="361176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51016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47350" cy="3592711"/>
        </p:xfrm>
        <a:graphic>
          <a:graphicData uri="http://schemas.openxmlformats.org/drawingml/2006/table">
            <a:tbl>
              <a:tblPr/>
              <a:tblGrid>
                <a:gridCol w="2109470"/>
                <a:gridCol w="2953258"/>
                <a:gridCol w="5484622"/>
              </a:tblGrid>
              <a:tr h="359271">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Part</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Tool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01625"/>
                      </a:solidFill>
                      <a:prstDash val="solid"/>
                      <a:round/>
                      <a:headEnd type="none" w="med" len="med"/>
                      <a:tailEnd type="none" w="med" len="med"/>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Why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01625"/>
                      </a:solidFill>
                      <a:prstDash val="solid"/>
                      <a:round/>
                      <a:headEnd type="none" w="med" len="med"/>
                      <a:tailEnd type="none" w="med" len="med"/>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Server</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Python, FastAPI</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Quick to build, checks every input, writes its own API docs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Database</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PostgreSQL + PostGIS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Reliable transactions plus map and distance search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Fast memory</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Redis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Locks, rate limits and the live status stream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Photos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MinIO (S3)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Files kept out of the database; moves to any cloud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Sign-in</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Clerk</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Passwords and two-step login handled for us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Website</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Next.js, React, TypeScript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One app for console, portal, tracking and driver app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Maps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Leaflet + OpenStreetMap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Free maps; the provider can be switched by a setting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Payments, texts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Paystack, SMS gateway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Nigeria’s main gateway; SMS reaches every phone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Running it</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Docker Compose, Caddy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Whole stack in one command, with automatic HTTPS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HOW THE PARTS TALK</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Four screens, one server, nothing lost</a:t>
            </a:r>
            <a:endParaRPr lang="en-US" sz="3600" dirty="0"/>
          </a:p>
        </p:txBody>
      </p:sp>
      <p:sp>
        <p:nvSpPr>
          <p:cNvPr id="4" name="Text 2"/>
          <p:cNvSpPr/>
          <p:nvPr/>
        </p:nvSpPr>
        <p:spPr>
          <a:xfrm>
            <a:off x="812800" y="196701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4748B"/>
                </a:solidFill>
                <a:latin typeface="Public Sans" pitchFamily="34" charset="0"/>
                <a:ea typeface="Public Sans" pitchFamily="34" charset="-122"/>
                <a:cs typeface="Public Sans" pitchFamily="34" charset="-120"/>
              </a:rPr>
              <a:t>SCREENS</a:t>
            </a:r>
            <a:endParaRPr lang="en-US" sz="1200" dirty="0"/>
          </a:p>
        </p:txBody>
      </p:sp>
      <p:sp>
        <p:nvSpPr>
          <p:cNvPr id="5" name="Text 3"/>
          <p:cNvSpPr/>
          <p:nvPr/>
        </p:nvSpPr>
        <p:spPr>
          <a:xfrm>
            <a:off x="815975" y="2285107"/>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Admin console</a:t>
            </a:r>
            <a:endParaRPr lang="en-US" sz="1400" dirty="0"/>
          </a:p>
        </p:txBody>
      </p:sp>
      <p:sp>
        <p:nvSpPr>
          <p:cNvPr id="6" name="Text 4"/>
          <p:cNvSpPr/>
          <p:nvPr/>
        </p:nvSpPr>
        <p:spPr>
          <a:xfrm>
            <a:off x="815975" y="2902248"/>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Shop portal</a:t>
            </a:r>
            <a:endParaRPr lang="en-US" sz="1400" dirty="0"/>
          </a:p>
        </p:txBody>
      </p:sp>
      <p:sp>
        <p:nvSpPr>
          <p:cNvPr id="7" name="Text 5"/>
          <p:cNvSpPr/>
          <p:nvPr/>
        </p:nvSpPr>
        <p:spPr>
          <a:xfrm>
            <a:off x="815975" y="3519388"/>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Driver app (offline)</a:t>
            </a:r>
            <a:endParaRPr lang="en-US" sz="1400" dirty="0"/>
          </a:p>
        </p:txBody>
      </p:sp>
      <p:sp>
        <p:nvSpPr>
          <p:cNvPr id="8" name="Text 6"/>
          <p:cNvSpPr/>
          <p:nvPr/>
        </p:nvSpPr>
        <p:spPr>
          <a:xfrm>
            <a:off x="815975" y="4136529"/>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Customer tracking</a:t>
            </a:r>
            <a:endParaRPr lang="en-US" sz="1400" dirty="0"/>
          </a:p>
        </p:txBody>
      </p:sp>
      <p:pic>
        <p:nvPicPr>
          <p:cNvPr id="9" name="Image 0" descr="connector">    </p:cNvPr>
          <p:cNvPicPr>
            <a:picLocks noChangeAspect="1"/>
          </p:cNvPicPr>
          <p:nvPr/>
        </p:nvPicPr>
        <p:blipFill>
          <a:blip r:embed="rId1"/>
          <a:srcRect l="0" r="0" t="0" b="0"/>
          <a:stretch/>
        </p:blipFill>
        <p:spPr>
          <a:xfrm>
            <a:off x="4013200" y="3269853"/>
            <a:ext cx="406400" cy="76200"/>
          </a:xfrm>
          <a:prstGeom prst="rect">
            <a:avLst/>
          </a:prstGeom>
        </p:spPr>
      </p:pic>
      <p:sp>
        <p:nvSpPr>
          <p:cNvPr id="10" name="Text 7"/>
          <p:cNvSpPr/>
          <p:nvPr/>
        </p:nvSpPr>
        <p:spPr>
          <a:xfrm>
            <a:off x="4572000" y="193536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4748B"/>
                </a:solidFill>
                <a:latin typeface="Public Sans" pitchFamily="34" charset="0"/>
                <a:ea typeface="Public Sans" pitchFamily="34" charset="-122"/>
                <a:cs typeface="Public Sans" pitchFamily="34" charset="-120"/>
              </a:rPr>
              <a:t>SERVER</a:t>
            </a:r>
            <a:endParaRPr lang="en-US" sz="1200" dirty="0"/>
          </a:p>
        </p:txBody>
      </p:sp>
      <p:sp>
        <p:nvSpPr>
          <p:cNvPr id="11" name="Shape 8"/>
          <p:cNvSpPr/>
          <p:nvPr/>
        </p:nvSpPr>
        <p:spPr>
          <a:xfrm>
            <a:off x="4572000" y="2250281"/>
            <a:ext cx="3048000" cy="1267222"/>
          </a:xfrm>
          <a:prstGeom prst="roundRect">
            <a:avLst>
              <a:gd name="adj" fmla="val 6013"/>
            </a:avLst>
          </a:prstGeom>
          <a:solidFill>
            <a:srgbClr val="1746D1"/>
          </a:solidFill>
          <a:ln/>
        </p:spPr>
      </p:sp>
      <p:sp>
        <p:nvSpPr>
          <p:cNvPr id="12" name="Text 9"/>
          <p:cNvSpPr/>
          <p:nvPr/>
        </p:nvSpPr>
        <p:spPr>
          <a:xfrm>
            <a:off x="4749800" y="2428081"/>
            <a:ext cx="27731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AFC"/>
                </a:solidFill>
                <a:latin typeface="Rubik" pitchFamily="34" charset="0"/>
                <a:ea typeface="Rubik" pitchFamily="34" charset="-122"/>
                <a:cs typeface="Rubik" pitchFamily="34" charset="-120"/>
              </a:rPr>
              <a:t>API</a:t>
            </a:r>
            <a:endParaRPr lang="en-US" sz="1600" dirty="0"/>
          </a:p>
        </p:txBody>
      </p:sp>
      <p:sp>
        <p:nvSpPr>
          <p:cNvPr id="13" name="Text 10"/>
          <p:cNvSpPr/>
          <p:nvPr/>
        </p:nvSpPr>
        <p:spPr>
          <a:xfrm>
            <a:off x="4749800" y="2722662"/>
            <a:ext cx="2773172"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CE5FB"/>
                </a:solidFill>
                <a:latin typeface="Public Sans" pitchFamily="34" charset="0"/>
                <a:ea typeface="Public Sans" pitchFamily="34" charset="-122"/>
                <a:cs typeface="Public Sans" pitchFamily="34" charset="-120"/>
              </a:rPr>
              <a:t>Checks who you are, applies the rules, saves the change and its event together</a:t>
            </a:r>
            <a:endParaRPr lang="en-US" sz="1200" dirty="0"/>
          </a:p>
        </p:txBody>
      </p:sp>
      <p:sp>
        <p:nvSpPr>
          <p:cNvPr id="14" name="Shape 11"/>
          <p:cNvSpPr/>
          <p:nvPr/>
        </p:nvSpPr>
        <p:spPr>
          <a:xfrm>
            <a:off x="4572000" y="3619103"/>
            <a:ext cx="3048000" cy="1061541"/>
          </a:xfrm>
          <a:prstGeom prst="roundRect">
            <a:avLst>
              <a:gd name="adj" fmla="val 7178"/>
            </a:avLst>
          </a:prstGeom>
          <a:solidFill>
            <a:srgbClr val="0F172A"/>
          </a:solidFill>
          <a:ln/>
        </p:spPr>
      </p:sp>
      <p:sp>
        <p:nvSpPr>
          <p:cNvPr id="15" name="Text 12"/>
          <p:cNvSpPr/>
          <p:nvPr/>
        </p:nvSpPr>
        <p:spPr>
          <a:xfrm>
            <a:off x="4749800" y="3796903"/>
            <a:ext cx="27731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AFC"/>
                </a:solidFill>
                <a:latin typeface="Rubik" pitchFamily="34" charset="0"/>
                <a:ea typeface="Rubik" pitchFamily="34" charset="-122"/>
                <a:cs typeface="Rubik" pitchFamily="34" charset="-120"/>
              </a:rPr>
              <a:t>Workers</a:t>
            </a:r>
            <a:endParaRPr lang="en-US" sz="1600" dirty="0"/>
          </a:p>
        </p:txBody>
      </p:sp>
      <p:sp>
        <p:nvSpPr>
          <p:cNvPr id="16" name="Text 13"/>
          <p:cNvSpPr/>
          <p:nvPr/>
        </p:nvSpPr>
        <p:spPr>
          <a:xfrm>
            <a:off x="4749800" y="4091484"/>
            <a:ext cx="277317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BD5E1"/>
                </a:solidFill>
                <a:latin typeface="Public Sans" pitchFamily="34" charset="0"/>
                <a:ea typeface="Public Sans" pitchFamily="34" charset="-122"/>
                <a:cs typeface="Public Sans" pitchFamily="34" charset="-120"/>
              </a:rPr>
              <a:t>Send the events: live updates, rider alerts, texts, with retries</a:t>
            </a:r>
            <a:endParaRPr lang="en-US" sz="1200" dirty="0"/>
          </a:p>
        </p:txBody>
      </p:sp>
      <p:pic>
        <p:nvPicPr>
          <p:cNvPr id="17" name="Image 1" descr="connector">    </p:cNvPr>
          <p:cNvPicPr>
            <a:picLocks noChangeAspect="1"/>
          </p:cNvPicPr>
          <p:nvPr/>
        </p:nvPicPr>
        <p:blipFill>
          <a:blip r:embed="rId2"/>
          <a:srcRect l="0" r="0" t="0" b="0"/>
          <a:stretch/>
        </p:blipFill>
        <p:spPr>
          <a:xfrm>
            <a:off x="7772400" y="3269853"/>
            <a:ext cx="406400" cy="76200"/>
          </a:xfrm>
          <a:prstGeom prst="rect">
            <a:avLst/>
          </a:prstGeom>
        </p:spPr>
      </p:pic>
      <p:sp>
        <p:nvSpPr>
          <p:cNvPr id="18" name="Text 14"/>
          <p:cNvSpPr/>
          <p:nvPr/>
        </p:nvSpPr>
        <p:spPr>
          <a:xfrm>
            <a:off x="8331200" y="196701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4748B"/>
                </a:solidFill>
                <a:latin typeface="Public Sans" pitchFamily="34" charset="0"/>
                <a:ea typeface="Public Sans" pitchFamily="34" charset="-122"/>
                <a:cs typeface="Public Sans" pitchFamily="34" charset="-120"/>
              </a:rPr>
              <a:t>STORAGE AND SERVICES</a:t>
            </a:r>
            <a:endParaRPr lang="en-US" sz="1200" dirty="0"/>
          </a:p>
        </p:txBody>
      </p:sp>
      <p:sp>
        <p:nvSpPr>
          <p:cNvPr id="19" name="Text 15"/>
          <p:cNvSpPr/>
          <p:nvPr/>
        </p:nvSpPr>
        <p:spPr>
          <a:xfrm>
            <a:off x="8334375" y="2285107"/>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PostgreSQL + PostGIS</a:t>
            </a:r>
            <a:endParaRPr lang="en-US" sz="1400" dirty="0"/>
          </a:p>
        </p:txBody>
      </p:sp>
      <p:sp>
        <p:nvSpPr>
          <p:cNvPr id="20" name="Text 16"/>
          <p:cNvSpPr/>
          <p:nvPr/>
        </p:nvSpPr>
        <p:spPr>
          <a:xfrm>
            <a:off x="8334375" y="2902248"/>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Redis · MinIO photos</a:t>
            </a:r>
            <a:endParaRPr lang="en-US" sz="1400" dirty="0"/>
          </a:p>
        </p:txBody>
      </p:sp>
      <p:sp>
        <p:nvSpPr>
          <p:cNvPr id="21" name="Text 17"/>
          <p:cNvSpPr/>
          <p:nvPr/>
        </p:nvSpPr>
        <p:spPr>
          <a:xfrm>
            <a:off x="8334375" y="3519388"/>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Clerk · Paystack</a:t>
            </a:r>
            <a:endParaRPr lang="en-US" sz="1400" dirty="0"/>
          </a:p>
        </p:txBody>
      </p:sp>
      <p:sp>
        <p:nvSpPr>
          <p:cNvPr id="22" name="Text 18"/>
          <p:cNvSpPr/>
          <p:nvPr/>
        </p:nvSpPr>
        <p:spPr>
          <a:xfrm>
            <a:off x="8334375" y="4136529"/>
            <a:ext cx="3041650" cy="509191"/>
          </a:xfrm>
          <a:prstGeom prst="roundRect">
            <a:avLst>
              <a:gd name="adj" fmla="val 14341"/>
            </a:avLst>
          </a:prstGeom>
          <a:solidFill>
            <a:srgbClr val="FFFFFF"/>
          </a:solidFill>
          <a:ln w="6350">
            <a:solidFill>
              <a:srgbClr val="E2E8F0"/>
            </a:solidFill>
            <a:prstDash val="solid"/>
          </a:ln>
        </p:spPr>
        <p:txBody>
          <a:bodyPr wrap="square" lIns="159587" tIns="108787" rIns="79196" bIns="83387" rtlCol="0" anchor="t">
            <a:normAutofit/>
          </a:bodyPr>
          <a:lstStyle/>
          <a:p>
            <a:pPr algn="l" indent="0" marL="0">
              <a:lnSpc>
                <a:spcPts val="1960"/>
              </a:lnSpc>
              <a:buNone/>
            </a:pPr>
            <a:r>
              <a:rPr lang="en-US" sz="1400" dirty="0">
                <a:solidFill>
                  <a:srgbClr val="0F172A"/>
                </a:solidFill>
                <a:latin typeface="Public Sans" pitchFamily="34" charset="0"/>
                <a:ea typeface="Public Sans" pitchFamily="34" charset="-122"/>
                <a:cs typeface="Public Sans" pitchFamily="34" charset="-120"/>
              </a:rPr>
              <a:t>SMS · Web push</a:t>
            </a:r>
            <a:endParaRPr lang="en-US" sz="1400" dirty="0"/>
          </a:p>
        </p:txBody>
      </p:sp>
      <p:sp>
        <p:nvSpPr>
          <p:cNvPr id="23"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DECISIONS ALONG THE WAY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What we changed from the first plan</a:t>
            </a:r>
            <a:endParaRPr lang="en-US" sz="3600" dirty="0"/>
          </a:p>
        </p:txBody>
      </p:sp>
      <p:sp>
        <p:nvSpPr>
          <p:cNvPr id="4" name="Shape 2"/>
          <p:cNvSpPr/>
          <p:nvPr/>
        </p:nvSpPr>
        <p:spPr>
          <a:xfrm>
            <a:off x="812800" y="1884561"/>
            <a:ext cx="10566400" cy="2533948"/>
          </a:xfrm>
          <a:prstGeom prst="roundRect">
            <a:avLst>
              <a:gd name="adj" fmla="val 4010"/>
            </a:avLst>
          </a:prstGeom>
          <a:solidFill>
            <a:srgbClr val="FFFFFF"/>
          </a:solidFill>
          <a:ln/>
        </p:spPr>
      </p:sp>
      <p:sp>
        <p:nvSpPr>
          <p:cNvPr id="5" name="Shape 3"/>
          <p:cNvSpPr/>
          <p:nvPr/>
        </p:nvSpPr>
        <p:spPr>
          <a:xfrm>
            <a:off x="812800" y="1884561"/>
            <a:ext cx="10566400" cy="2533948"/>
          </a:xfrm>
          <a:custGeom>
            <a:avLst/>
            <a:gdLst/>
            <a:ahLst/>
            <a:cxnLst/>
            <a:rect l="l" t="t" r="r" b="b"/>
            <a:pathLst>
              <a:path w="10566400" h="2533948">
                <a:moveTo>
                  <a:pt x="10464800" y="0"/>
                </a:moveTo>
                <a:lnTo>
                  <a:pt x="10464800" y="0"/>
                </a:lnTo>
                <a:arcTo hR="101600" wR="101600" stAng="16200000" swAng="5400000"/>
                <a:lnTo>
                  <a:pt x="10566400" y="2432348"/>
                </a:lnTo>
                <a:arcTo hR="101600" wR="101600" stAng="0" swAng="5400000"/>
                <a:lnTo>
                  <a:pt x="101600" y="2533948"/>
                </a:lnTo>
                <a:arcTo hR="101600" wR="101600" stAng="5400000" swAng="5400000"/>
                <a:lnTo>
                  <a:pt x="0" y="2432348"/>
                </a:lnTo>
                <a:arcTo hR="95250" wR="101600" stAng="10800000" swAng="-5400000"/>
                <a:lnTo>
                  <a:pt x="10464800" y="2527598"/>
                </a:lnTo>
                <a:arcTo hR="95250" wR="95250" stAng="5400000" swAng="-5400000"/>
                <a:lnTo>
                  <a:pt x="10560050" y="101600"/>
                </a:lnTo>
                <a:arcTo hR="101600" wR="95250" stAng="0" swAng="-5400000"/>
                <a:close/>
              </a:path>
            </a:pathLst>
          </a:custGeom>
          <a:solidFill>
            <a:srgbClr val="E2E8F0"/>
          </a:solidFill>
          <a:ln/>
        </p:spPr>
      </p:sp>
      <p:sp>
        <p:nvSpPr>
          <p:cNvPr id="6" name="Shape 4"/>
          <p:cNvSpPr/>
          <p:nvPr/>
        </p:nvSpPr>
        <p:spPr>
          <a:xfrm>
            <a:off x="812800" y="1884561"/>
            <a:ext cx="10566400" cy="2533948"/>
          </a:xfrm>
          <a:custGeom>
            <a:avLst/>
            <a:gdLst/>
            <a:ahLst/>
            <a:cxnLst/>
            <a:rect l="l" t="t" r="r" b="b"/>
            <a:pathLst>
              <a:path w="10566400" h="2533948">
                <a:moveTo>
                  <a:pt x="101600" y="2533948"/>
                </a:moveTo>
                <a:lnTo>
                  <a:pt x="101600" y="2533948"/>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32348"/>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47350" cy="2514898"/>
        </p:xfrm>
        <a:graphic>
          <a:graphicData uri="http://schemas.openxmlformats.org/drawingml/2006/table">
            <a:tbl>
              <a:tblPr/>
              <a:tblGrid>
                <a:gridCol w="2953258"/>
                <a:gridCol w="2953258"/>
                <a:gridCol w="4640834"/>
              </a:tblGrid>
              <a:tr h="359271">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First plan</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What we built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01625"/>
                      </a:solidFill>
                      <a:prstDash val="solid"/>
                      <a:round/>
                      <a:headEnd type="none" w="med" len="med"/>
                      <a:tailEnd type="none" w="med" len="med"/>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c>
                  <a:txBody>
                    <a:bodyPr/>
                    <a:lstStyle/>
                    <a:p>
                      <a:pPr indent="0" marL="0">
                        <a:lnSpc>
                          <a:spcPts val="1820"/>
                        </a:lnSpc>
                        <a:buNone/>
                      </a:pPr>
                      <a:r>
                        <a:rPr lang="en-US" sz="1300" b="1" dirty="0">
                          <a:solidFill>
                            <a:srgbClr val="F8FAFC"/>
                          </a:solidFill>
                          <a:latin typeface="Public Sans" pitchFamily="34" charset="0"/>
                          <a:ea typeface="Public Sans" pitchFamily="34" charset="-122"/>
                          <a:cs typeface="Public Sans" pitchFamily="34" charset="-120"/>
                        </a:rPr>
                        <a:t>Why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01625"/>
                      </a:solidFill>
                      <a:prstDash val="solid"/>
                      <a:round/>
                      <a:headEnd type="none" w="med" len="med"/>
                      <a:tailEnd type="none" w="med" len="med"/>
                    </a:lnL>
                    <a:lnR w="12700" cap="flat" cmpd="sng" algn="ctr">
                      <a:solidFill>
                        <a:srgbClr val="101625"/>
                      </a:solidFill>
                      <a:prstDash val="solid"/>
                      <a:round/>
                      <a:headEnd type="none" w="med" len="med"/>
                      <a:tailEnd type="none" w="med" len="med"/>
                    </a:lnR>
                    <a:lnT w="0" cap="flat" cmpd="sng" algn="ctr">
                      <a:noFill/>
                    </a:lnT>
                    <a:lnB w="12700" cap="flat" cmpd="sng" algn="ctr">
                      <a:solidFill>
                        <a:srgbClr val="101625"/>
                      </a:solidFill>
                      <a:prstDash val="solid"/>
                      <a:round/>
                      <a:headEnd type="none" w="med" len="med"/>
                      <a:tailEnd type="none" w="med" len="med"/>
                    </a:lnB>
                    <a:solidFill>
                      <a:srgbClr val="0F172A"/>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TypeScript or Go server</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Python FastAPI</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Faster for a small team to build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162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Native Android app</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Offline web app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Install by link, no app store, cheap phones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Many staff roles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One Admin + Drivers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Fits small companies; fewer access mistakes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Staff and shops create orders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Only shops create orders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The shop owns its orders; claims stay clean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The company pays</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Each shop pays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Revenue follows who gets the value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Kubernetes in the cloud</a:t>
                      </a:r>
                      <a:endParaRPr lang="en-US" sz="1300" dirty="0">
                        <a:latin typeface="Public Sans" charset="0"/>
                        <a:ea typeface="Public Sans" charset="0"/>
                        <a:cs typeface="Public Sans" charset="0"/>
                      </a:endParaRPr>
                    </a:p>
                  </a:txBody>
                  <a:tcPr marL="57785" marR="57785" marT="57785" marB="57785" anchor="t">
                    <a:lnL w="0" cap="flat" cmpd="sng" algn="ctr">
                      <a:noFill/>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Docker Compose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820"/>
                        </a:lnSpc>
                        <a:buNone/>
                      </a:pPr>
                      <a:r>
                        <a:rPr lang="en-US" sz="1300" dirty="0">
                          <a:solidFill>
                            <a:srgbClr val="0F172A"/>
                          </a:solidFill>
                          <a:latin typeface="Public Sans" pitchFamily="34" charset="0"/>
                          <a:ea typeface="Public Sans" pitchFamily="34" charset="-122"/>
                          <a:cs typeface="Public Sans" pitchFamily="34" charset="-120"/>
                        </a:rPr>
                        <a:t>No server yet; Compose is enough for a pilot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46D1"/>
                </a:solidFill>
                <a:latin typeface="Public Sans" pitchFamily="34" charset="0"/>
                <a:ea typeface="Public Sans" pitchFamily="34" charset="-122"/>
                <a:cs typeface="Public Sans" pitchFamily="34" charset="-120"/>
              </a:rPr>
              <a:t>WHERE IT STANDS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Rubik" pitchFamily="34" charset="0"/>
                <a:ea typeface="Rubik" pitchFamily="34" charset="-122"/>
                <a:cs typeface="Rubik" pitchFamily="34" charset="-120"/>
              </a:rPr>
              <a:t>Built and tested. Next, the real world.</a:t>
            </a:r>
            <a:endParaRPr lang="en-US" sz="3600" dirty="0"/>
          </a:p>
        </p:txBody>
      </p:sp>
      <p:sp>
        <p:nvSpPr>
          <p:cNvPr id="4" name="Shape 2"/>
          <p:cNvSpPr/>
          <p:nvPr/>
        </p:nvSpPr>
        <p:spPr>
          <a:xfrm>
            <a:off x="815975" y="1938536"/>
            <a:ext cx="5175250" cy="2421533"/>
          </a:xfrm>
          <a:prstGeom prst="roundRect">
            <a:avLst>
              <a:gd name="adj" fmla="val 4065"/>
            </a:avLst>
          </a:prstGeom>
          <a:solidFill>
            <a:srgbClr val="FFFFFF"/>
          </a:solidFill>
          <a:ln w="6350">
            <a:solidFill>
              <a:srgbClr val="E2E8F0"/>
            </a:solidFill>
            <a:prstDash val="solid"/>
          </a:ln>
        </p:spPr>
      </p:sp>
      <p:sp>
        <p:nvSpPr>
          <p:cNvPr id="5" name="Text 3"/>
          <p:cNvSpPr/>
          <p:nvPr/>
        </p:nvSpPr>
        <p:spPr>
          <a:xfrm>
            <a:off x="1073150" y="219571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803D"/>
                </a:solidFill>
                <a:latin typeface="Rubik" pitchFamily="34" charset="0"/>
                <a:ea typeface="Rubik" pitchFamily="34" charset="-122"/>
                <a:cs typeface="Rubik" pitchFamily="34" charset="-120"/>
              </a:rPr>
              <a:t>Done</a:t>
            </a:r>
            <a:endParaRPr lang="en-US" sz="1600" dirty="0"/>
          </a:p>
        </p:txBody>
      </p:sp>
      <p:sp>
        <p:nvSpPr>
          <p:cNvPr id="6" name="Text 4"/>
          <p:cNvSpPr/>
          <p:nvPr/>
        </p:nvSpPr>
        <p:spPr>
          <a:xfrm>
            <a:off x="1073150" y="256649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Public Sans" pitchFamily="34" charset="0"/>
                <a:ea typeface="Public Sans" pitchFamily="34" charset="-122"/>
                <a:cs typeface="Public Sans" pitchFamily="34" charset="-120"/>
              </a:rPr>
              <a:t>Orders, dispatch, driver app, delivery code, cash, statements, claims, shop plans</a:t>
            </a:r>
            <a:endParaRPr lang="en-US" sz="1300" dirty="0"/>
          </a:p>
        </p:txBody>
      </p:sp>
      <p:sp>
        <p:nvSpPr>
          <p:cNvPr id="7" name="Text 5"/>
          <p:cNvSpPr/>
          <p:nvPr/>
        </p:nvSpPr>
        <p:spPr>
          <a:xfrm>
            <a:off x="1073150" y="3155652"/>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Public Sans" pitchFamily="34" charset="0"/>
                <a:ea typeface="Public Sans" pitchFamily="34" charset="-122"/>
                <a:cs typeface="Public Sans" pitchFamily="34" charset="-120"/>
              </a:rPr>
              <a:t>143 automated tests passing</a:t>
            </a:r>
            <a:endParaRPr lang="en-US" sz="1300" dirty="0"/>
          </a:p>
        </p:txBody>
      </p:sp>
      <p:sp>
        <p:nvSpPr>
          <p:cNvPr id="8" name="Text 6"/>
          <p:cNvSpPr/>
          <p:nvPr/>
        </p:nvSpPr>
        <p:spPr>
          <a:xfrm>
            <a:off x="1073150" y="351373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Public Sans" pitchFamily="34" charset="0"/>
                <a:ea typeface="Public Sans" pitchFamily="34" charset="-122"/>
                <a:cs typeface="Public Sans" pitchFamily="34" charset="-120"/>
              </a:rPr>
              <a:t>Backups proven by a full restore; HTTPS, monitoring</a:t>
            </a:r>
            <a:endParaRPr lang="en-US" sz="1300" dirty="0"/>
          </a:p>
        </p:txBody>
      </p:sp>
      <p:sp>
        <p:nvSpPr>
          <p:cNvPr id="9" name="Text 7"/>
          <p:cNvSpPr/>
          <p:nvPr/>
        </p:nvSpPr>
        <p:spPr>
          <a:xfrm>
            <a:off x="1073150" y="387181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Public Sans" pitchFamily="34" charset="0"/>
                <a:ea typeface="Public Sans" pitchFamily="34" charset="-122"/>
                <a:cs typeface="Public Sans" pitchFamily="34" charset="-120"/>
              </a:rPr>
              <a:t>Live demo online today</a:t>
            </a:r>
            <a:endParaRPr lang="en-US" sz="1300" dirty="0"/>
          </a:p>
        </p:txBody>
      </p:sp>
      <p:sp>
        <p:nvSpPr>
          <p:cNvPr id="10" name="Shape 8"/>
          <p:cNvSpPr/>
          <p:nvPr/>
        </p:nvSpPr>
        <p:spPr>
          <a:xfrm>
            <a:off x="6200775" y="1938536"/>
            <a:ext cx="5175250" cy="2421533"/>
          </a:xfrm>
          <a:prstGeom prst="roundRect">
            <a:avLst>
              <a:gd name="adj" fmla="val 4065"/>
            </a:avLst>
          </a:prstGeom>
          <a:solidFill>
            <a:srgbClr val="FFFFFF"/>
          </a:solidFill>
          <a:ln w="6350">
            <a:solidFill>
              <a:srgbClr val="E2E8F0"/>
            </a:solidFill>
            <a:prstDash val="solid"/>
          </a:ln>
        </p:spPr>
      </p:sp>
      <p:sp>
        <p:nvSpPr>
          <p:cNvPr id="11" name="Text 9"/>
          <p:cNvSpPr/>
          <p:nvPr/>
        </p:nvSpPr>
        <p:spPr>
          <a:xfrm>
            <a:off x="6457950" y="219571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09"/>
                </a:solidFill>
                <a:latin typeface="Rubik" pitchFamily="34" charset="0"/>
                <a:ea typeface="Rubik" pitchFamily="34" charset="-122"/>
                <a:cs typeface="Rubik" pitchFamily="34" charset="-120"/>
              </a:rPr>
              <a:t>Before launch</a:t>
            </a:r>
            <a:endParaRPr lang="en-US" sz="1600" dirty="0"/>
          </a:p>
        </p:txBody>
      </p:sp>
      <p:sp>
        <p:nvSpPr>
          <p:cNvPr id="12" name="Text 10"/>
          <p:cNvSpPr/>
          <p:nvPr/>
        </p:nvSpPr>
        <p:spPr>
          <a:xfrm>
            <a:off x="6457950" y="2566491"/>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34155"/>
                </a:solidFill>
                <a:latin typeface="Public Sans" pitchFamily="34" charset="0"/>
                <a:ea typeface="Public Sans" pitchFamily="34" charset="-122"/>
                <a:cs typeface="Public Sans" pitchFamily="34" charset="-120"/>
              </a:rPr>
              <a:t>1.</a:t>
            </a:r>
            <a:r>
              <a:rPr lang="en-US" sz="1300" dirty="0">
                <a:solidFill>
                  <a:srgbClr val="334155"/>
                </a:solidFill>
                <a:latin typeface="Public Sans" pitchFamily="34" charset="0"/>
                <a:ea typeface="Public Sans" pitchFamily="34" charset="-122"/>
                <a:cs typeface="Public Sans" pitchFamily="34" charset="-120"/>
              </a:rPr>
              <a:t> Rotate exposed keys, then a real server and domain</a:t>
            </a:r>
            <a:endParaRPr lang="en-US" sz="1300" dirty="0"/>
          </a:p>
        </p:txBody>
      </p:sp>
      <p:sp>
        <p:nvSpPr>
          <p:cNvPr id="13" name="Text 11"/>
          <p:cNvSpPr/>
          <p:nvPr/>
        </p:nvSpPr>
        <p:spPr>
          <a:xfrm>
            <a:off x="6457950" y="2924572"/>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34155"/>
                </a:solidFill>
                <a:latin typeface="Public Sans" pitchFamily="34" charset="0"/>
                <a:ea typeface="Public Sans" pitchFamily="34" charset="-122"/>
                <a:cs typeface="Public Sans" pitchFamily="34" charset="-120"/>
              </a:rPr>
              <a:t>2.</a:t>
            </a:r>
            <a:r>
              <a:rPr lang="en-US" sz="1300" dirty="0">
                <a:solidFill>
                  <a:srgbClr val="334155"/>
                </a:solidFill>
                <a:latin typeface="Public Sans" pitchFamily="34" charset="0"/>
                <a:ea typeface="Public Sans" pitchFamily="34" charset="-122"/>
                <a:cs typeface="Public Sans" pitchFamily="34" charset="-120"/>
              </a:rPr>
              <a:t> Register an SMS sender so texts really go out</a:t>
            </a:r>
            <a:endParaRPr lang="en-US" sz="1300" dirty="0"/>
          </a:p>
        </p:txBody>
      </p:sp>
      <p:sp>
        <p:nvSpPr>
          <p:cNvPr id="14" name="Text 12"/>
          <p:cNvSpPr/>
          <p:nvPr/>
        </p:nvSpPr>
        <p:spPr>
          <a:xfrm>
            <a:off x="6457950" y="3282652"/>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34155"/>
                </a:solidFill>
                <a:latin typeface="Public Sans" pitchFamily="34" charset="0"/>
                <a:ea typeface="Public Sans" pitchFamily="34" charset="-122"/>
                <a:cs typeface="Public Sans" pitchFamily="34" charset="-120"/>
              </a:rPr>
              <a:t>3.</a:t>
            </a:r>
            <a:r>
              <a:rPr lang="en-US" sz="1300" dirty="0">
                <a:solidFill>
                  <a:srgbClr val="334155"/>
                </a:solidFill>
                <a:latin typeface="Public Sans" pitchFamily="34" charset="0"/>
                <a:ea typeface="Public Sans" pitchFamily="34" charset="-122"/>
                <a:cs typeface="Public Sans" pitchFamily="34" charset="-120"/>
              </a:rPr>
              <a:t> Two-week pilot: one Lagos zone, 3 to 5 drivers</a:t>
            </a:r>
            <a:endParaRPr lang="en-US" sz="1300" dirty="0"/>
          </a:p>
        </p:txBody>
      </p:sp>
      <p:sp>
        <p:nvSpPr>
          <p:cNvPr id="15" name="Text 13"/>
          <p:cNvSpPr/>
          <p:nvPr/>
        </p:nvSpPr>
        <p:spPr>
          <a:xfrm>
            <a:off x="6457950" y="3640733"/>
            <a:ext cx="4800727"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34155"/>
                </a:solidFill>
                <a:latin typeface="Public Sans" pitchFamily="34" charset="0"/>
                <a:ea typeface="Public Sans" pitchFamily="34" charset="-122"/>
                <a:cs typeface="Public Sans" pitchFamily="34" charset="-120"/>
              </a:rPr>
              <a:t>4.</a:t>
            </a:r>
            <a:r>
              <a:rPr lang="en-US" sz="1300" dirty="0">
                <a:solidFill>
                  <a:srgbClr val="334155"/>
                </a:solidFill>
                <a:latin typeface="Public Sans" pitchFamily="34" charset="0"/>
                <a:ea typeface="Public Sans" pitchFamily="34" charset="-122"/>
                <a:cs typeface="Public Sans" pitchFamily="34" charset="-120"/>
              </a:rPr>
              <a:t> Real Paystack payments, then NDPC, legal and security review</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Public Sans" pitchFamily="34" charset="0"/>
                <a:ea typeface="Public Sans" pitchFamily="34" charset="-122"/>
                <a:cs typeface="Public Sans" pitchFamily="34" charset="-120"/>
              </a:rPr>
              <a:t>RouteBridge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746D1"/>
          </a:solidFill>
          <a:ln/>
        </p:spPr>
      </p:sp>
      <p:sp>
        <p:nvSpPr>
          <p:cNvPr id="3" name="Text 1"/>
          <p:cNvSpPr/>
          <p:nvPr>
            <p:ph type="title"/>
          </p:nvPr>
        </p:nvSpPr>
        <p:spPr>
          <a:xfrm>
            <a:off x="812800" y="21171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8FAFC"/>
                </a:solidFill>
                <a:latin typeface="Rubik" pitchFamily="34" charset="0"/>
                <a:ea typeface="Rubik" pitchFamily="34" charset="-122"/>
                <a:cs typeface="Rubik" pitchFamily="34" charset="-120"/>
              </a:rPr>
              <a:t>Thank you</a:t>
            </a:r>
            <a:endParaRPr lang="en-US" sz="6000" dirty="0"/>
          </a:p>
        </p:txBody>
      </p:sp>
      <p:sp>
        <p:nvSpPr>
          <p:cNvPr id="4" name="Text 2"/>
          <p:cNvSpPr/>
          <p:nvPr/>
        </p:nvSpPr>
        <p:spPr>
          <a:xfrm>
            <a:off x="812800" y="3222030"/>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BD5E1"/>
                </a:solidFill>
                <a:latin typeface="Public Sans" pitchFamily="34" charset="0"/>
                <a:ea typeface="Public Sans" pitchFamily="34" charset="-122"/>
                <a:cs typeface="Public Sans" pitchFamily="34" charset="-120"/>
              </a:rPr>
              <a:t>Every order in one place. Every delivery proven. Every naira accounted for.</a:t>
            </a:r>
            <a:endParaRPr lang="en-US" sz="2200" dirty="0"/>
          </a:p>
        </p:txBody>
      </p:sp>
      <p:sp>
        <p:nvSpPr>
          <p:cNvPr id="5" name="Text 3"/>
          <p:cNvSpPr/>
          <p:nvPr/>
        </p:nvSpPr>
        <p:spPr>
          <a:xfrm>
            <a:off x="812800" y="42531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FA8F0"/>
                </a:solidFill>
                <a:latin typeface="Public Sans" pitchFamily="34" charset="0"/>
                <a:ea typeface="Public Sans" pitchFamily="34" charset="-122"/>
                <a:cs typeface="Public Sans" pitchFamily="34" charset="-120"/>
              </a:rPr>
              <a:t>Questions?</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3B8"/>
                </a:solidFill>
                <a:latin typeface="Public Sans" pitchFamily="34" charset="0"/>
                <a:ea typeface="Public Sans" pitchFamily="34" charset="-122"/>
                <a:cs typeface="Public Sans" pitchFamily="34" charset="-120"/>
              </a:rPr>
              <a:t>[Presenter name] · [Contact] · [Demo link]</a:t>
            </a:r>
            <a:endParaRPr lang="en-US" sz="1200" dirty="0"/>
          </a:p>
        </p:txBody>
      </p:sp>
    </p:spTree>
  </p:cSld>
  <p:clrMapOvr>
    <a:masterClrMapping/>
  </p:clrMapOvr>
</p:sld>
</file>

<file path=ppt/theme/theme1.xml><?xml version="1.0" encoding="utf-8"?>
<a:theme xmlns:a="http://schemas.openxmlformats.org/drawingml/2006/main" name="RouteBridge">
  <a:themeElements>
    <a:clrScheme name="RouteBridge">
      <a:dk1>
        <a:srgbClr val="0F172A"/>
      </a:dk1>
      <a:lt1>
        <a:srgbClr val="F8FAFC"/>
      </a:lt1>
      <a:dk2>
        <a:srgbClr val="49505F"/>
      </a:dk2>
      <a:lt2>
        <a:srgbClr val="E1E3E7"/>
      </a:lt2>
      <a:accent1>
        <a:srgbClr val="1746D1"/>
      </a:accent1>
      <a:accent2>
        <a:srgbClr val="64748B"/>
      </a:accent2>
      <a:accent3>
        <a:srgbClr val="8FA8F0"/>
      </a:accent3>
      <a:accent4>
        <a:srgbClr val="15803D"/>
      </a:accent4>
      <a:accent5>
        <a:srgbClr val="92400E"/>
      </a:accent5>
      <a:accent6>
        <a:srgbClr val="78350F"/>
      </a:accent6>
      <a:hlink>
        <a:srgbClr val="0563C1"/>
      </a:hlink>
      <a:folHlink>
        <a:srgbClr val="954F72"/>
      </a:folHlink>
    </a:clrScheme>
    <a:fontScheme name="RouteBridg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RouteBridge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2026-10-22T13:46:54Z</dcterms:created>
  <dcterms:modified xsi:type="dcterms:W3CDTF">2026-10-22T13:46:55Z</dcterms:modified>
</cp:coreProperties>
</file>